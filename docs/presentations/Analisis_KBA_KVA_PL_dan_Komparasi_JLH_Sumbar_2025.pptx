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A"/>
          </a:solidFill>
          <a:ln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868680"/>
            <a:ext cx="128016" cy="5120640"/>
          </a:xfrm>
          <a:prstGeom prst="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960120"/>
            <a:ext cx="10332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150" b="1">
                <a:solidFill>
                  <a:srgbClr val="DAA520"/>
                </a:solidFill>
              </a:defRPr>
            </a:pPr>
            <a:r>
              <a:t>KEMENTERIAN LINGKUNGAN HIDUP / BADAN PENGENDALIAN LINGKUNGAN HIDUP (BPLH)</a:t>
            </a:r>
            <a:br/>
            <a:r>
              <a:t>DIREKTORAT PENYELENGGARAAN SUMBER DAYA ALAM BERKELANJUTAN</a:t>
            </a:r>
          </a:p>
          <a:p>
            <a:pPr>
              <a:spcAft>
                <a:spcPts val="1400"/>
              </a:spcAft>
              <a:defRPr sz="2600" b="1">
                <a:solidFill>
                  <a:srgbClr val="FFFFFF"/>
                </a:solidFill>
              </a:defRPr>
            </a:pPr>
            <a:r>
              <a:t>ANALISIS KAUSALITAS JASA LINGKUNGAN HIDUP (JLH)</a:t>
            </a:r>
            <a:br/>
            <a:r>
              <a:t>BERDASARKAN PARAMETER KBA, KVA &amp; PENUTUPAN LAHAN</a:t>
            </a:r>
            <a:br/>
            <a:r>
              <a:t>SERTA KOMPARASI GDB VS RASTER 0.5 METER</a:t>
            </a:r>
          </a:p>
          <a:p>
            <a:pPr>
              <a:spcAft>
                <a:spcPts val="2400"/>
              </a:spcAft>
              <a:defRPr sz="1300" i="1">
                <a:solidFill>
                  <a:srgbClr val="D2E0F0"/>
                </a:solidFill>
              </a:defRPr>
            </a:pPr>
            <a:r>
              <a:t>1. Mengapa suatu wilayah di Sumatera Barat memiliki kelas Sangat Tinggi hingga Sangat Rendah pada tiap jenis JLH?</a:t>
            </a:r>
            <a:br/>
            <a:r>
              <a:t>2. Mengapa terdapat perbedaan Nilai Skor dan Luasan (Ha) antara JLH_2025_ALL.gdb dengan Raster Seamless 0.5 Meter?</a:t>
            </a:r>
          </a:p>
          <a:p>
            <a:pPr>
              <a:defRPr sz="1050">
                <a:solidFill>
                  <a:srgbClr val="DAA520"/>
                </a:solidFill>
              </a:defRPr>
            </a:pPr>
            <a:r>
              <a:t>Provinsi Sumatera Barat • Analisis Empiris 37.001 Poligon GDB &amp; 175,2 Miliar Piksel Raster 0.5m • 2025–2026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42A4A"/>
          </a:solidFill>
          <a:ln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AA520"/>
                </a:solidFill>
              </a:defRPr>
            </a:pPr>
            <a:r>
              <a:t>ANALISIS FAKTOR KBA, KVA &amp; PENUTUPAN LAHAN SERTA KOMPARASI GDB VS RASTER 0.5M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FFFFFF"/>
                </a:solidFill>
              </a:defRPr>
            </a:pPr>
            <a:r>
              <a:t>Mekanisme Pembentukan Kelas JLH dari Parameter KBA, KVA, dan PL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12191695" cy="45720"/>
          </a:xfrm>
          <a:prstGeom prst="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3657600" cy="3931920"/>
          </a:xfrm>
          <a:prstGeom prst="roundRect">
            <a:avLst/>
          </a:prstGeom>
          <a:solidFill>
            <a:srgbClr val="F3F6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143000"/>
            <a:ext cx="3657600" cy="438912"/>
          </a:xfrm>
          <a:prstGeom prst="roundRect">
            <a:avLst/>
          </a:prstGeom>
          <a:solidFill>
            <a:srgbClr val="142A4A"/>
          </a:solidFill>
          <a:ln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1. KARAKTERISTIK BENTANG ALAM (KBA - Bobot 15% s.d. 32%)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45920"/>
            <a:ext cx="3438144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b="1" sz="919">
                <a:solidFill>
                  <a:srgbClr val="142A4A"/>
                </a:solidFill>
              </a:rPr>
              <a:t>▪ Peran Fisik Abiotik: </a:t>
            </a:r>
            <a:r>
              <a:rPr sz="900">
                <a:solidFill>
                  <a:srgbClr val="1E232A"/>
                </a:solidFill>
              </a:rPr>
              <a:t>Mencerminkan geomorfologi, lereng, dan batuan induk (litologi) yang mengontrol proses hidro-orologis dan kesuburan tanah.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b="1" sz="919">
                <a:solidFill>
                  <a:srgbClr val="142A4A"/>
                </a:solidFill>
              </a:rPr>
              <a:t>▪ KBA Bernilai Tinggi (Skor 4–5): </a:t>
            </a:r>
            <a:r>
              <a:rPr sz="900">
                <a:solidFill>
                  <a:srgbClr val="1E232A"/>
                </a:solidFill>
              </a:rPr>
              <a:t>Dataran/Lembah Aluvial &amp; Dataran Vulkanik Piroklastik (skor 4–5 pada PYA &amp; PGN karena akuifer dangkal &amp; tanah andosol subur); Karst &amp; Pegunungan Vulkanik (skor 4–5 pada PGA karena permeabilitas resapan air tinggi); Dataran Gambut (skor 5 pada PPK &amp; PKU).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b="1" sz="919">
                <a:solidFill>
                  <a:srgbClr val="142A4A"/>
                </a:solidFill>
              </a:rPr>
              <a:t>▪ KBA Bernilai Rendah (Skor 1–2): </a:t>
            </a:r>
            <a:r>
              <a:rPr sz="900">
                <a:solidFill>
                  <a:srgbClr val="1E232A"/>
                </a:solidFill>
              </a:rPr>
              <a:t>Perbukitan Struktural Plutonik Batuan Beku Dalam / Metamorfik (skor 1–2 pada PYA, PHK, PGN karena batuan masif kedap air dan solum tanah tipis/miskin hara); Dataran Fluvial (skor 1 pada PGA karena zona limpasan/banjir).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1104" y="1143000"/>
            <a:ext cx="3657600" cy="3931920"/>
          </a:xfrm>
          <a:prstGeom prst="roundRect">
            <a:avLst/>
          </a:prstGeom>
          <a:solidFill>
            <a:srgbClr val="F3F6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61104" y="1143000"/>
            <a:ext cx="3657600" cy="438912"/>
          </a:xfrm>
          <a:prstGeom prst="round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2. KARAKTERISTIK VEGETASI ALAMI (KVA - Bobot 8% s.d. 25%)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0832" y="1645920"/>
            <a:ext cx="3438144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b="1" sz="919">
                <a:solidFill>
                  <a:srgbClr val="142A4A"/>
                </a:solidFill>
              </a:rPr>
              <a:t>▪ Peran Bioregion Klimaks: </a:t>
            </a:r>
            <a:r>
              <a:rPr sz="900">
                <a:solidFill>
                  <a:srgbClr val="1E232A"/>
                </a:solidFill>
              </a:rPr>
              <a:t>Merepresentasikan potensi ekosistem vegetasi asli sebelum intervensi manusia sebagai penopang relung habitat &amp; stok biomassa.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b="1" sz="919">
                <a:solidFill>
                  <a:srgbClr val="142A4A"/>
                </a:solidFill>
              </a:rPr>
              <a:t>▪ KVA Bernilai Tinggi (Skor 4–5): </a:t>
            </a:r>
            <a:r>
              <a:rPr sz="900">
                <a:solidFill>
                  <a:srgbClr val="1E232A"/>
                </a:solidFill>
              </a:rPr>
              <a:t>Vegetasi Hutan Dipterokarpa Pamah &amp; Non-Dipterokarpa Pamah (mencakup 2,86 juta Ha / 68% Sumbar) memiliki skor 4–5 di hampir semua JLH karena struktur kanopi berlapis, perakaran dalam, dan keanekaragaman spesies tertinggi.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b="1" sz="919">
                <a:solidFill>
                  <a:srgbClr val="142A4A"/>
                </a:solidFill>
              </a:rPr>
              <a:t>▪ KVA Bernilai Rendah (Skor 1–2): </a:t>
            </a:r>
            <a:r>
              <a:rPr sz="900">
                <a:solidFill>
                  <a:srgbClr val="1E232A"/>
                </a:solidFill>
              </a:rPr>
              <a:t>Vegetasi Hutan Pegunungan Atas/Subalpin &amp; Batuan Ultrabasa/Kerangas (skor 1–2 pada PHK, PGN, PGA karena faktor pembatas suhu dingin ekstrem, tanah asam miskin hara, dan tajuk kerdil).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4152" y="1143000"/>
            <a:ext cx="3657600" cy="3931920"/>
          </a:xfrm>
          <a:prstGeom prst="roundRect">
            <a:avLst/>
          </a:prstGeom>
          <a:solidFill>
            <a:srgbClr val="F3F6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74152" y="1143000"/>
            <a:ext cx="3657600" cy="438912"/>
          </a:xfrm>
          <a:prstGeom prst="roundRect">
            <a:avLst/>
          </a:prstGeom>
          <a:solidFill>
            <a:srgbClr val="24527A"/>
          </a:solidFill>
          <a:ln>
            <a:solidFill>
              <a:srgbClr val="245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3. PENUTUPAN LAHAN AKTUAL 2025 (PL - Bobot Dominan 60%)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1645920"/>
            <a:ext cx="3438144" cy="3364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b="1" sz="919">
                <a:solidFill>
                  <a:srgbClr val="142A4A"/>
                </a:solidFill>
              </a:rPr>
              <a:t>▪ Faktor Penentu Utama (60%): </a:t>
            </a:r>
            <a:r>
              <a:rPr sz="900">
                <a:solidFill>
                  <a:srgbClr val="1E232A"/>
                </a:solidFill>
              </a:rPr>
              <a:t>Karena bobotnya 0.60, perubahan tutupan lahan mampu mengangkat atau menjatuhkan kelas JLH secara drastis.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b="1" sz="919">
                <a:solidFill>
                  <a:srgbClr val="142A4A"/>
                </a:solidFill>
              </a:rPr>
              <a:t>▪ PL Pengangkat Kelas (Skor 4–5): </a:t>
            </a:r>
            <a:r>
              <a:rPr sz="900">
                <a:solidFill>
                  <a:srgbClr val="1E232A"/>
                </a:solidFill>
              </a:rPr>
              <a:t>Hutan Lahan Kering Primer/Sekunder &amp; Mangrove (skor 4–5 pada PGA, PHK, PPK, PKU); Sawah &amp; Rawa (skor 5 pada PGN); Tubuh Air/Danau (skor 5 pada PYA &amp; PGA).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b="1" sz="919">
                <a:solidFill>
                  <a:srgbClr val="142A4A"/>
                </a:solidFill>
              </a:rPr>
              <a:t>▪ PL Penjatuh Kelas (Skor 1–2): </a:t>
            </a:r>
            <a:r>
              <a:rPr sz="900">
                <a:solidFill>
                  <a:srgbClr val="1E232A"/>
                </a:solidFill>
              </a:rPr>
              <a:t>Lahan Terbuka, Pertambangan, Permukiman, Jalan, Bandara (skor 1–2 di seluruh JLH). Bahkan jika KBA &amp; KVA bernilai 5, jika PL = 1 (Lahan Terbuka), skor maksimal hanya (5×0.40)+(1×0.60) = 2.60 (Kelas Rendah)!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212080"/>
            <a:ext cx="11274552" cy="1325880"/>
          </a:xfrm>
          <a:prstGeom prst="roundRect">
            <a:avLst/>
          </a:prstGeom>
          <a:solidFill>
            <a:srgbClr val="FEF9E7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42A4A"/>
                </a:solidFill>
              </a:defRPr>
            </a:pPr>
            <a:r>
              <a:t>KUNCI MATEMATIS MENGAPA SUATU TEMPAT BERKELAS SANGAT TINGGI (4.21–5.00) VS SANGAT RENDAH (1.00–1.80):</a:t>
            </a:r>
          </a:p>
          <a:p>
            <a:pPr>
              <a:defRPr sz="919">
                <a:solidFill>
                  <a:srgbClr val="1E232A"/>
                </a:solidFill>
              </a:defRPr>
            </a:pPr>
            <a:r>
              <a:t>• Rumus Umum: Skor JLH = (W_KBA × Skor KBA) + (W_KVA × Skor KVA) + (0.60 × Skor PL).</a:t>
            </a:r>
            <a:br/>
            <a:r>
              <a:t>• Syarat Mutlak Kelas SANGAT TINGGI (&gt; 4.20): Wajib memiliki Skor PL ≥ 4 (Hutan/Sawah/Air) DITAMBAH dukungan KBA/KVA bernilai ≥ 3. (Jika PL = 3, skor maksimum teoritis hanya 5×0.40 + 3×0.60 = 3.80 → mentok di Kelas Tinggi!).</a:t>
            </a:r>
            <a:br/>
            <a:r>
              <a:t>• Syarat Terjadinya Kelas SANGAT RENDAH (≤ 1.80): Terjadi ketika Skor PL = 1 atau 2 (Permukiman, Lahan Terbuka, Tambang, atau Hutan Sekunder pada PYA) yang berhimpitan dengan KBA batuan kedap air/miskin hara (Skor KBA = 1–2).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42A4A"/>
          </a:solidFill>
          <a:ln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AA520"/>
                </a:solidFill>
              </a:defRPr>
            </a:pPr>
            <a:r>
              <a:t>ANALISIS FAKTOR KBA, KVA &amp; PENUTUPAN LAHAN SERTA KOMPARASI GDB VS RASTER 0.5M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FFFFFF"/>
                </a:solidFill>
              </a:defRPr>
            </a:pPr>
            <a:r>
              <a:t>1. Analisis KBA, KVA &amp; PL pada JLH Pengaturan Air (PGA)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12191695" cy="45720"/>
          </a:xfrm>
          <a:prstGeom prst="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43000"/>
          <a:ext cx="11274551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417320"/>
                <a:gridCol w="2148840"/>
                <a:gridCol w="1874519"/>
                <a:gridCol w="1691640"/>
                <a:gridCol w="2907792"/>
              </a:tblGrid>
              <a:tr h="88392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</a:defRPr>
                      </a:pPr>
                      <a:r>
                        <a:t>Kelas &amp; Rentang</a:t>
                      </a:r>
                    </a:p>
                  </a:txBody>
                  <a:tcPr anchor="ctr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</a:defRPr>
                      </a:pPr>
                      <a:r>
                        <a:t>Contoh Skor &amp; Sebaran Utama</a:t>
                      </a:r>
                    </a:p>
                  </a:txBody>
                  <a:tcPr anchor="ctr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</a:defRPr>
                      </a:pPr>
                      <a:r>
                        <a:t>Parameter KBA (Bentang Alam)</a:t>
                      </a:r>
                    </a:p>
                  </a:txBody>
                  <a:tcPr anchor="ctr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</a:defRPr>
                      </a:pPr>
                      <a:r>
                        <a:t>Parameter KVA (Vegetasi Alami)</a:t>
                      </a:r>
                    </a:p>
                  </a:txBody>
                  <a:tcPr anchor="ctr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</a:defRPr>
                      </a:pPr>
                      <a:r>
                        <a:t>Parameter PL (Penutupan Lahan)</a:t>
                      </a:r>
                    </a:p>
                  </a:txBody>
                  <a:tcPr anchor="ctr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</a:defRPr>
                      </a:pPr>
                      <a:r>
                        <a:t>Sintesis Kausalitas Ekologis &amp; Geospasial</a:t>
                      </a:r>
                    </a:p>
                  </a:txBody>
                  <a:tcPr anchor="ctr">
                    <a:solidFill>
                      <a:srgbClr val="142A4A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Sangat Tinggi</a:t>
                      </a:r>
                    </a:p>
                  </a:txBody>
                  <a:tcPr anchor="ctr">
                    <a:solidFill>
                      <a:srgbClr val="15734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Skor: 4.44</a:t>
                      </a:r>
                    </a:p>
                    <a:p>
                      <a:r>
                        <a:t>(Mentawai, Pesisir Selatan, Pasaman)</a:t>
                      </a:r>
                    </a:p>
                    <a:p>
                      <a:r>
                        <a:t>1,43–2,11 Juta Ha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KBA = 3–5]</a:t>
                      </a:r>
                    </a:p>
                    <a:p>
                      <a:r>
                        <a:t>Perbukitan struktural sedimen, pegunungan vulkanik piroklastik &amp; karst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KVA = 5]</a:t>
                      </a:r>
                    </a:p>
                    <a:p>
                      <a:r>
                        <a:t>Vegetasi hutan dipterokarpa &amp; non-dipterokarpa pamah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PL = 5]</a:t>
                      </a:r>
                    </a:p>
                    <a:p>
                      <a:r>
                        <a:t>Hutan Lahan Kering Primer &amp; Sekunder / Badan Air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Perhitungan: 3(0.28)+5(0.12)+5(0.60) = 4.44. Tajuk hutan berlapis menahan intersepsi hujan &amp; serasah tebal memaksimalkan infiltrasi ke batuan berpori.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Tinggi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Skor: 3.52</a:t>
                      </a:r>
                    </a:p>
                    <a:p>
                      <a:r>
                        <a:t>(Pesisir Selatan, Pasaman, Agam)</a:t>
                      </a:r>
                    </a:p>
                    <a:p>
                      <a:r>
                        <a:t>716–733 Ribu Ha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KBA = 4]</a:t>
                      </a:r>
                    </a:p>
                    <a:p>
                      <a:r>
                        <a:t>Perbukitan/pegunungan vulkanik campuran beku luar &amp; piroklastik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KVA = 5]</a:t>
                      </a:r>
                    </a:p>
                    <a:p>
                      <a:r>
                        <a:t>Vegetasi hutan pamah tropika basah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PL = 3]</a:t>
                      </a:r>
                    </a:p>
                    <a:p>
                      <a:r>
                        <a:t>Pertanian Lahan Kering Campur (Agroforestri)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Perhitungan: 4(0.28)+5(0.12)+3(0.60) = 3.52. Meskipun tutupan lahan berupa kebun campur (PL=3), porositas batuan piroklastik (KBA=4) menjaga daya atur air tetap Tinggi.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Sedang</a:t>
                      </a:r>
                    </a:p>
                  </a:txBody>
                  <a:tcPr anchor="ctr">
                    <a:solidFill>
                      <a:srgbClr val="D9820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Skor: 2.96</a:t>
                      </a:r>
                    </a:p>
                    <a:p>
                      <a:r>
                        <a:t>(Dharmasraya, Pasaman Barat)</a:t>
                      </a:r>
                    </a:p>
                    <a:p>
                      <a:r>
                        <a:t>1,15–1,75 Juta Ha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KBA = 2–3]</a:t>
                      </a:r>
                    </a:p>
                    <a:p>
                      <a:r>
                        <a:t>Dataran vulkanik berombak &amp; perbukitan struktural lipatan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KVA = 4–5]</a:t>
                      </a:r>
                    </a:p>
                    <a:p>
                      <a:r>
                        <a:t>Vegetasi hutan pamah / pegunungan bawah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PL = 3]</a:t>
                      </a:r>
                    </a:p>
                    <a:p>
                      <a:r>
                        <a:t>Perkebunan (Sawit/Karet), Sawah &amp; Semak Belukar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Perhitungan: 2(0.28)+5(0.12)+3(0.60) = 2.96. Monokultur perkebunan &amp; sawah memiliki kapasitas retensi air moderat dengan limpasan permukaan menengah.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Rendah</a:t>
                      </a:r>
                    </a:p>
                  </a:txBody>
                  <a:tcPr anchor="ctr">
                    <a:solidFill>
                      <a:srgbClr val="DC58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Skor: 2.44</a:t>
                      </a:r>
                    </a:p>
                    <a:p>
                      <a:r>
                        <a:t>(Pasaman Barat, Agam, Dharmasraya)</a:t>
                      </a:r>
                    </a:p>
                    <a:p>
                      <a:r>
                        <a:t>309–357 Ribu Ha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KBA = 1]</a:t>
                      </a:r>
                    </a:p>
                    <a:p>
                      <a:r>
                        <a:t>Dataran fluvial bermaterial aluvium (zona akumulasi banjir)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KVA = 3]</a:t>
                      </a:r>
                    </a:p>
                    <a:p>
                      <a:r>
                        <a:t>Vegetasi terna rawa air tawar / tepian sungai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PL = 3]</a:t>
                      </a:r>
                    </a:p>
                    <a:p>
                      <a:r>
                        <a:t>Perkebunan / Pertanian Lahan Kering di dataran rendah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Perhitungan: 1(0.28)+3(0.12)+3(0.60) = 2.44. Dataran aluvial datar berdrainase terhambat (KBA=1) dengan tutupan kebun tidak mampu meredam fluktuasi debit.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Sangat Rendah</a:t>
                      </a:r>
                    </a:p>
                  </a:txBody>
                  <a:tcPr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Skor: 1.48–1.64</a:t>
                      </a:r>
                    </a:p>
                    <a:p>
                      <a:r>
                        <a:t>(Pesisir Selatan, Kota Padang, Pasaman)</a:t>
                      </a:r>
                    </a:p>
                    <a:p>
                      <a:r>
                        <a:t>9–29 Ribu Ha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KBA = 1–2]</a:t>
                      </a:r>
                    </a:p>
                    <a:p>
                      <a:r>
                        <a:t>Dataran aluvial pantai / dataran gambut terdegradasi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KVA = 3–4]</a:t>
                      </a:r>
                    </a:p>
                    <a:p>
                      <a:r>
                        <a:t>Vegetasi pantai / hutan gambut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PL = 1–2]</a:t>
                      </a:r>
                    </a:p>
                    <a:p>
                      <a:r>
                        <a:t>Lahan Terbuka, Pertambangan, Jalan &amp; Permukiman Padat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Perhitungan: 2(0.28)+4(0.12)+1(0.60) = 1.64. Permukaan kedap air (beton/aspal) atau tanah kupasan tambang menghilangkan fungsi infiltrasi (100% menjadi run-off).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42A4A"/>
          </a:solidFill>
          <a:ln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AA520"/>
                </a:solidFill>
              </a:defRPr>
            </a:pPr>
            <a:r>
              <a:t>ANALISIS FAKTOR KBA, KVA &amp; PENUTUPAN LAHAN SERTA KOMPARASI GDB VS RASTER 0.5M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FFFFFF"/>
                </a:solidFill>
              </a:defRPr>
            </a:pPr>
            <a:r>
              <a:t>2. Analisis KBA, KVA &amp; PL pada JLH Penyedia Air Bersih (PYA)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12191695" cy="45720"/>
          </a:xfrm>
          <a:prstGeom prst="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43000"/>
          <a:ext cx="11274551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417320"/>
                <a:gridCol w="2148840"/>
                <a:gridCol w="1874519"/>
                <a:gridCol w="1691640"/>
                <a:gridCol w="2907792"/>
              </a:tblGrid>
              <a:tr h="88392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</a:defRPr>
                      </a:pPr>
                      <a:r>
                        <a:t>Kelas &amp; Rentang</a:t>
                      </a:r>
                    </a:p>
                  </a:txBody>
                  <a:tcPr anchor="ctr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</a:defRPr>
                      </a:pPr>
                      <a:r>
                        <a:t>Contoh Skor &amp; Sebaran Utama</a:t>
                      </a:r>
                    </a:p>
                  </a:txBody>
                  <a:tcPr anchor="ctr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</a:defRPr>
                      </a:pPr>
                      <a:r>
                        <a:t>Parameter KBA (Bentang Alam)</a:t>
                      </a:r>
                    </a:p>
                  </a:txBody>
                  <a:tcPr anchor="ctr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</a:defRPr>
                      </a:pPr>
                      <a:r>
                        <a:t>Parameter KVA (Vegetasi Alami)</a:t>
                      </a:r>
                    </a:p>
                  </a:txBody>
                  <a:tcPr anchor="ctr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</a:defRPr>
                      </a:pPr>
                      <a:r>
                        <a:t>Parameter PL (Penutupan Lahan)</a:t>
                      </a:r>
                    </a:p>
                  </a:txBody>
                  <a:tcPr anchor="ctr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</a:defRPr>
                      </a:pPr>
                      <a:r>
                        <a:t>Sintesis Kausalitas Ekologis &amp; Geospasial</a:t>
                      </a:r>
                    </a:p>
                  </a:txBody>
                  <a:tcPr anchor="ctr">
                    <a:solidFill>
                      <a:srgbClr val="142A4A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Sangat Tinggi</a:t>
                      </a:r>
                    </a:p>
                  </a:txBody>
                  <a:tcPr anchor="ctr">
                    <a:solidFill>
                      <a:srgbClr val="15734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Skor: 4.84</a:t>
                      </a:r>
                    </a:p>
                    <a:p>
                      <a:r>
                        <a:t>(Agam, Tanah Datar, Solok)</a:t>
                      </a:r>
                    </a:p>
                    <a:p>
                      <a:r>
                        <a:t>35–42 Ribu Ha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KBA = 5]</a:t>
                      </a:r>
                    </a:p>
                    <a:p>
                      <a:r>
                        <a:t>Danau kaldera/tektonik &amp; Lembah sungai aluvium utama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KVA = 3–4]</a:t>
                      </a:r>
                    </a:p>
                    <a:p>
                      <a:r>
                        <a:t>Vegetasi hutan danau &amp; tepian sungai air tawar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PL = 5]</a:t>
                      </a:r>
                    </a:p>
                    <a:p>
                      <a:r>
                        <a:t>Tubuh Air (Danau Maninjau, Singkarak, Diatas, Dibawah, Sungai)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Perhitungan: 5(0.32)+3(0.08)+5(0.60) = 4.84. Bobot KBA tertinggi (32%) berpadu dengan tubuh air tawar permanen (PL=5) sebagai cadangan air baku utama.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Tinggi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Skor: 3.64</a:t>
                      </a:r>
                    </a:p>
                    <a:p>
                      <a:r>
                        <a:t>(Lima Puluh Kota, Pasaman Barat)</a:t>
                      </a:r>
                    </a:p>
                    <a:p>
                      <a:r>
                        <a:t>18–240 Ribu Ha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KBA = 4–5]</a:t>
                      </a:r>
                    </a:p>
                    <a:p>
                      <a:r>
                        <a:t>Lembah sungai aluvium &amp; dataran vulkanik piroklastik (akuifer produktif)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KVA = 3–4]</a:t>
                      </a:r>
                    </a:p>
                    <a:p>
                      <a:r>
                        <a:t>Vegetasi terna rawa air tawar &amp; hutan pamah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PL = 3]</a:t>
                      </a:r>
                    </a:p>
                    <a:p>
                      <a:r>
                        <a:t>Sawah Irigasi &amp; Hutan Lahan Kering Primer di cekungan vulkanik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Perhitungan: 5(0.32)+3(0.08)+3(0.60) = 3.64. Lembah aluvial dan kipas piroklastik menyimpan air tanah dangkal melimpah dengan mata air berdebit besar.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Sedang</a:t>
                      </a:r>
                    </a:p>
                  </a:txBody>
                  <a:tcPr anchor="ctr">
                    <a:solidFill>
                      <a:srgbClr val="D9820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Skor: 3.08</a:t>
                      </a:r>
                    </a:p>
                    <a:p>
                      <a:r>
                        <a:t>(Pesisir Selatan, Pasaman Barat, Agam)</a:t>
                      </a:r>
                    </a:p>
                    <a:p>
                      <a:r>
                        <a:t>1,75–3,11 Juta Ha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KBA = 3]</a:t>
                      </a:r>
                    </a:p>
                    <a:p>
                      <a:r>
                        <a:t>Pegunungan vulkanik campuran &amp; perbukitan sedimen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KVA = 4]</a:t>
                      </a:r>
                    </a:p>
                    <a:p>
                      <a:r>
                        <a:t>Vegetasi hutan pamah dipterokarpa / non-dipterokarpa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PL = 3]</a:t>
                      </a:r>
                    </a:p>
                    <a:p>
                      <a:r>
                        <a:t>Hutan Lahan Kering Primer (di GDB) &amp; Hutan Alami (di Raster 0.5m)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Perhitungan: 3(0.32)+4(0.08)+3(0.60) = 3.08. Hutan di lereng pegunungan menjaga aliran dasar sungai (baseflow), namun potensi akuifer lokalnya sedang.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Rendah</a:t>
                      </a:r>
                    </a:p>
                  </a:txBody>
                  <a:tcPr anchor="ctr">
                    <a:solidFill>
                      <a:srgbClr val="DC58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Skor: 2.48</a:t>
                      </a:r>
                    </a:p>
                    <a:p>
                      <a:r>
                        <a:t>(Mentawai, Pesisir Selatan, Sijunjung)</a:t>
                      </a:r>
                    </a:p>
                    <a:p>
                      <a:r>
                        <a:t>0,89–2,36 Juta Ha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KBA = 2–3]</a:t>
                      </a:r>
                    </a:p>
                    <a:p>
                      <a:r>
                        <a:t>Perbukitan struktural lipatan sedimen &amp; batuan beku luar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KVA = 4]</a:t>
                      </a:r>
                    </a:p>
                    <a:p>
                      <a:r>
                        <a:t>Vegetasi hutan dipterokarpa pamah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PL = 2]</a:t>
                      </a:r>
                    </a:p>
                    <a:p>
                      <a:r>
                        <a:t>Hutan Sekunder (di GDB PL=2), Perkebunan &amp; Kebun Campur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Perhitungan: 3(0.32)+4(0.08)+2(0.60) = 2.48. Evapotranspirasi tajuk sekunder/perkebunan tinggi sementara batuan sedimen lipatan miskin akuifer air tanah.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Sangat Rendah</a:t>
                      </a:r>
                    </a:p>
                  </a:txBody>
                  <a:tcPr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Skor: 1.76</a:t>
                      </a:r>
                    </a:p>
                    <a:p>
                      <a:r>
                        <a:t>(Solok, Agam, Sijunjung)</a:t>
                      </a:r>
                    </a:p>
                    <a:p>
                      <a:r>
                        <a:t>46–93 Ribu Ha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KBA = 1]</a:t>
                      </a:r>
                    </a:p>
                    <a:p>
                      <a:r>
                        <a:t>Perbukitan struktural plutonik batuan beku dalam (granit masif kedap air)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KVA = 2–3]</a:t>
                      </a:r>
                    </a:p>
                    <a:p>
                      <a:r>
                        <a:t>Vegetasi hutan pegunungan bawah / savana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PL = 1–2]</a:t>
                      </a:r>
                    </a:p>
                    <a:p>
                      <a:r>
                        <a:t>Lahan Terbuka, Tambang, Jalan, atau Hutan Sekunder di batuan plutonik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Perhitungan: 1(0.32)+3(0.08)+2(0.60) = 1.76. Batuan plutonik/metamorfik masif tidak memiliki pori akuifer (air hujan langsung terbuang sebagai aliran permukaan).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42A4A"/>
          </a:solidFill>
          <a:ln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AA520"/>
                </a:solidFill>
              </a:defRPr>
            </a:pPr>
            <a:r>
              <a:t>ANALISIS FAKTOR KBA, KVA &amp; PENUTUPAN LAHAN SERTA KOMPARASI GDB VS RASTER 0.5M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FFFFFF"/>
                </a:solidFill>
              </a:defRPr>
            </a:pPr>
            <a:r>
              <a:t>3. Analisis KBA, KVA &amp; PL pada JLH Penyedia Pangan (PGN)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12191695" cy="45720"/>
          </a:xfrm>
          <a:prstGeom prst="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43000"/>
          <a:ext cx="11274551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417320"/>
                <a:gridCol w="2148840"/>
                <a:gridCol w="1874519"/>
                <a:gridCol w="1691640"/>
                <a:gridCol w="2907792"/>
              </a:tblGrid>
              <a:tr h="88392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</a:defRPr>
                      </a:pPr>
                      <a:r>
                        <a:t>Kelas &amp; Rentang</a:t>
                      </a:r>
                    </a:p>
                  </a:txBody>
                  <a:tcPr anchor="ctr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</a:defRPr>
                      </a:pPr>
                      <a:r>
                        <a:t>Contoh Skor &amp; Sebaran Utama</a:t>
                      </a:r>
                    </a:p>
                  </a:txBody>
                  <a:tcPr anchor="ctr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</a:defRPr>
                      </a:pPr>
                      <a:r>
                        <a:t>Parameter KBA (Bentang Alam)</a:t>
                      </a:r>
                    </a:p>
                  </a:txBody>
                  <a:tcPr anchor="ctr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</a:defRPr>
                      </a:pPr>
                      <a:r>
                        <a:t>Parameter KVA (Vegetasi Alami)</a:t>
                      </a:r>
                    </a:p>
                  </a:txBody>
                  <a:tcPr anchor="ctr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</a:defRPr>
                      </a:pPr>
                      <a:r>
                        <a:t>Parameter PL (Penutupan Lahan)</a:t>
                      </a:r>
                    </a:p>
                  </a:txBody>
                  <a:tcPr anchor="ctr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</a:defRPr>
                      </a:pPr>
                      <a:r>
                        <a:t>Sintesis Kausalitas Ekologis &amp; Geospasial</a:t>
                      </a:r>
                    </a:p>
                  </a:txBody>
                  <a:tcPr anchor="ctr">
                    <a:solidFill>
                      <a:srgbClr val="142A4A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Sangat Tinggi</a:t>
                      </a:r>
                    </a:p>
                  </a:txBody>
                  <a:tcPr anchor="ctr">
                    <a:solidFill>
                      <a:srgbClr val="15734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Skor: 5.00</a:t>
                      </a:r>
                    </a:p>
                    <a:p>
                      <a:r>
                        <a:t>(Agam, Pasaman, Pesisir Selatan)</a:t>
                      </a:r>
                    </a:p>
                    <a:p>
                      <a:r>
                        <a:t>171–231 Ribu Ha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KBA = 5]</a:t>
                      </a:r>
                    </a:p>
                    <a:p>
                      <a:r>
                        <a:t>Dataran fluvial aluvium &amp; Dataran vulkanik piroklastik subur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KVA = 5]</a:t>
                      </a:r>
                    </a:p>
                    <a:p>
                      <a:r>
                        <a:t>Vegetasi hutan pamah tropika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PL = 5]</a:t>
                      </a:r>
                    </a:p>
                    <a:p>
                      <a:r>
                        <a:t>Sawah Irigasi Teknis, Tambak &amp; Ekosistem Mangrove/Rawa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Perhitungan: 5(0.28)+5(0.12)+5(0.60) = 5.00. Kombinasi sempurna tanah aluvial/andosol kaya mineral (KBA=5) dengan lahan sawah produktif (PL=5).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Tinggi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Skor: 3.84–4.12</a:t>
                      </a:r>
                    </a:p>
                    <a:p>
                      <a:r>
                        <a:t>(Pesisir Selatan, Pasaman Barat, Solok)</a:t>
                      </a:r>
                    </a:p>
                    <a:p>
                      <a:r>
                        <a:t>1,64–3,19 Juta Ha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KBA = 3–4]</a:t>
                      </a:r>
                    </a:p>
                    <a:p>
                      <a:r>
                        <a:t>Pegunungan/perbukitan vulkanik piroklastik &amp; sedimen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KVA = 4–5]</a:t>
                      </a:r>
                    </a:p>
                    <a:p>
                      <a:r>
                        <a:t>Vegetasi hutan pamah &amp; pegunungan bawah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PL = 4]</a:t>
                      </a:r>
                    </a:p>
                    <a:p>
                      <a:r>
                        <a:t>Hutan Primer &amp; Sawah/Tanaman Pangan (di Raster PL=4)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Perhitungan: 4(0.28)+5(0.12)+4(0.60) = 4.12. Tanah vulkanik lereng gunung api (Marapi, Singgalang, Talang, Pasaman) sangat subur untuk hortikultura &amp; pangan.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Sedang</a:t>
                      </a:r>
                    </a:p>
                  </a:txBody>
                  <a:tcPr anchor="ctr">
                    <a:solidFill>
                      <a:srgbClr val="D9820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Skor: 3.24</a:t>
                      </a:r>
                    </a:p>
                    <a:p>
                      <a:r>
                        <a:t>(Mentawai, Lima Puluh Kota, Pasaman)</a:t>
                      </a:r>
                    </a:p>
                    <a:p>
                      <a:r>
                        <a:t>0,67–2,20 Juta Ha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KBA = 3]</a:t>
                      </a:r>
                    </a:p>
                    <a:p>
                      <a:r>
                        <a:t>Perbukitan struktural lipatan batuan sedimen non-karbonat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KVA = 5]</a:t>
                      </a:r>
                    </a:p>
                    <a:p>
                      <a:r>
                        <a:t>Vegetasi hutan dipterokarpa pamah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PL = 3]</a:t>
                      </a:r>
                    </a:p>
                    <a:p>
                      <a:r>
                        <a:t>Pertanian Lahan Kering, Kebun Campur, Perkebunan &amp; Hutan Sekunder (GDB)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Perhitungan: 3(0.28)+5(0.12)+3(0.60) = 3.24. Kemiringan lereng perbukitan struktural membatasi mekanisasi pertanian namun mendukung agroforestri pangan.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Rendah</a:t>
                      </a:r>
                    </a:p>
                  </a:txBody>
                  <a:tcPr anchor="ctr">
                    <a:solidFill>
                      <a:srgbClr val="DC58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Skor: 2.40–2.60</a:t>
                      </a:r>
                    </a:p>
                    <a:p>
                      <a:r>
                        <a:t>(Pasaman Barat, Dharmasraya, Sijunjung)</a:t>
                      </a:r>
                    </a:p>
                    <a:p>
                      <a:r>
                        <a:t>113–307 Ribu Ha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KBA = 2]</a:t>
                      </a:r>
                    </a:p>
                    <a:p>
                      <a:r>
                        <a:t>Perbukitan struktural batuan metamorfik &amp; dataran gambut asam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KVA = 2–3]</a:t>
                      </a:r>
                    </a:p>
                    <a:p>
                      <a:r>
                        <a:t>Vegetasi hutan batuan ultrabasa / kerangas / gambut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PL = 2–3]</a:t>
                      </a:r>
                    </a:p>
                    <a:p>
                      <a:r>
                        <a:t>Padang Rumput/Semak Belukar atau Perkebunan di tanah miskin hara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Perhitungan: 2(0.28)+2(0.12)+3(0.60) = 2.60. Tanah ultrabasa/metamorfik dan gambut memiliki keasaman (pH) tinggi dan toksisitas logam yang menghambat tanaman pangan.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Sangat Rendah</a:t>
                      </a:r>
                    </a:p>
                  </a:txBody>
                  <a:tcPr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Skor: 1.52–1.80</a:t>
                      </a:r>
                    </a:p>
                    <a:p>
                      <a:r>
                        <a:t>(Kota Padang, Bukittinggi, Sijunjung)</a:t>
                      </a:r>
                    </a:p>
                    <a:p>
                      <a:r>
                        <a:t>26–38 Ribu Ha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KBA = 2–3]</a:t>
                      </a:r>
                    </a:p>
                    <a:p>
                      <a:r>
                        <a:t>Dataran marin berpasir &amp; perbukitan plutonik batuan beku dalam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KVA = 3]</a:t>
                      </a:r>
                    </a:p>
                    <a:p>
                      <a:r>
                        <a:t>Vegetasi hutan pantai / pegunungan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PL = 1]</a:t>
                      </a:r>
                    </a:p>
                    <a:p>
                      <a:r>
                        <a:t>Permukiman Perkotaan, Bangunan Gedung, Jalan &amp; Lahan Terbuka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Perhitungan: 3(0.28)+3(0.12)+1(0.60) = 1.80. Konversi lahan permanen menjadi kawasan terbangun menghilangkan kapasitas produksi biomassa pangan secara mutlak.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42A4A"/>
          </a:solidFill>
          <a:ln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AA520"/>
                </a:solidFill>
              </a:defRPr>
            </a:pPr>
            <a:r>
              <a:t>ANALISIS FAKTOR KBA, KVA &amp; PENUTUPAN LAHAN SERTA KOMPARASI GDB VS RASTER 0.5M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FFFFFF"/>
                </a:solidFill>
              </a:defRPr>
            </a:pPr>
            <a:r>
              <a:t>4. Analisis KBA, KVA &amp; PL pada JLH Pengatur Kualitas Udara (PKU)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12191695" cy="45720"/>
          </a:xfrm>
          <a:prstGeom prst="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43000"/>
          <a:ext cx="11274551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417320"/>
                <a:gridCol w="2148840"/>
                <a:gridCol w="1874519"/>
                <a:gridCol w="1691640"/>
                <a:gridCol w="2907792"/>
              </a:tblGrid>
              <a:tr h="88392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</a:defRPr>
                      </a:pPr>
                      <a:r>
                        <a:t>Kelas &amp; Rentang</a:t>
                      </a:r>
                    </a:p>
                  </a:txBody>
                  <a:tcPr anchor="ctr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</a:defRPr>
                      </a:pPr>
                      <a:r>
                        <a:t>Contoh Skor &amp; Sebaran Utama</a:t>
                      </a:r>
                    </a:p>
                  </a:txBody>
                  <a:tcPr anchor="ctr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</a:defRPr>
                      </a:pPr>
                      <a:r>
                        <a:t>Parameter KBA (Bentang Alam)</a:t>
                      </a:r>
                    </a:p>
                  </a:txBody>
                  <a:tcPr anchor="ctr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</a:defRPr>
                      </a:pPr>
                      <a:r>
                        <a:t>Parameter KVA (Vegetasi Alami)</a:t>
                      </a:r>
                    </a:p>
                  </a:txBody>
                  <a:tcPr anchor="ctr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</a:defRPr>
                      </a:pPr>
                      <a:r>
                        <a:t>Parameter PL (Penutupan Lahan)</a:t>
                      </a:r>
                    </a:p>
                  </a:txBody>
                  <a:tcPr anchor="ctr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</a:defRPr>
                      </a:pPr>
                      <a:r>
                        <a:t>Sintesis Kausalitas Ekologis &amp; Geospasial</a:t>
                      </a:r>
                    </a:p>
                  </a:txBody>
                  <a:tcPr anchor="ctr">
                    <a:solidFill>
                      <a:srgbClr val="142A4A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Sangat Tinggi</a:t>
                      </a:r>
                    </a:p>
                  </a:txBody>
                  <a:tcPr anchor="ctr">
                    <a:solidFill>
                      <a:srgbClr val="15734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Skor: 4.85</a:t>
                      </a:r>
                    </a:p>
                    <a:p>
                      <a:r>
                        <a:t>(Mentawai, Pesisir Selatan, Pasaman)</a:t>
                      </a:r>
                    </a:p>
                    <a:p>
                      <a:r>
                        <a:t>1,94–2,87 Juta Ha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KBA = 4–5]</a:t>
                      </a:r>
                    </a:p>
                    <a:p>
                      <a:r>
                        <a:t>Perbukitan sedimen, vulkanik &amp; dataran gambut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KVA = 5]</a:t>
                      </a:r>
                    </a:p>
                    <a:p>
                      <a:r>
                        <a:t>Vegetasi hutan dipterokarpa pamah &amp; hutan gambut (Bobot KVA 25%!)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PL = 5]</a:t>
                      </a:r>
                    </a:p>
                    <a:p>
                      <a:r>
                        <a:t>Hutan Lahan Kering Primer/Sekunder, Mangrove &amp; Rawa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Perhitungan: 4(0.15)+5(0.25)+5(0.60) = 4.85. Bobot KVA terbesar (25%) berpadu dengan kanopi hutan rapat (PL=5) yang menyerap polutan &amp; memproduksi O2 maksimal.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Tinggi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Skor: 3.80–4.05</a:t>
                      </a:r>
                    </a:p>
                    <a:p>
                      <a:r>
                        <a:t>(Pesisir Selatan, Lima Puluh Kota)</a:t>
                      </a:r>
                    </a:p>
                    <a:p>
                      <a:r>
                        <a:t>622–938 Ribu Ha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KBA = 4–5]</a:t>
                      </a:r>
                    </a:p>
                    <a:p>
                      <a:r>
                        <a:t>Dataran organik gambut &amp; perbukitan vulkanik piroklastik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KVA = 4–5]</a:t>
                      </a:r>
                    </a:p>
                    <a:p>
                      <a:r>
                        <a:t>Vegetasi hutan gambut &amp; hutan pamah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PL = 3–4]</a:t>
                      </a:r>
                    </a:p>
                    <a:p>
                      <a:r>
                        <a:t>Perkebunan (di Raster PL=4; di GDB PL=3 pada KBA/KVA=5) &amp; Hutan Tanaman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Perhitungan: 5(0.15)+5(0.25)+3(0.60) = 3.80. Tegakan pohon perkebunan dan agroforestri tetap menyediakan indeks luas daun (LAI) tinggi untuk filtrasi udara.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Sedang</a:t>
                      </a:r>
                    </a:p>
                  </a:txBody>
                  <a:tcPr anchor="ctr">
                    <a:solidFill>
                      <a:srgbClr val="D9820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Skor: 3.25–3.40</a:t>
                      </a:r>
                    </a:p>
                    <a:p>
                      <a:r>
                        <a:t>(Dharmasraya, Pasaman Barat)</a:t>
                      </a:r>
                    </a:p>
                    <a:p>
                      <a:r>
                        <a:t>0,52–1,63 Juta Ha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KBA = 3–4]</a:t>
                      </a:r>
                    </a:p>
                    <a:p>
                      <a:r>
                        <a:t>Dataran vulkanik berombak &amp; perbukitan struktural metamorfik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KVA = 4]</a:t>
                      </a:r>
                    </a:p>
                    <a:p>
                      <a:r>
                        <a:t>Vegetasi hutan pamah non-dipterokarpa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PL = 3]</a:t>
                      </a:r>
                    </a:p>
                    <a:p>
                      <a:r>
                        <a:t>Sawah, Pertanian Lahan Kering, Semak Belukar &amp; Perkebunan (di GDB)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Perhitungan: 4(0.15)+4(0.25)+3(0.60) = 3.40. Vegetasi tanaman semusim (padi/palawija) dan semak memiliki tinggi tajuk rendah sehingga kapasitas serapan aerosol sedang.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Rendah</a:t>
                      </a:r>
                    </a:p>
                  </a:txBody>
                  <a:tcPr anchor="ctr">
                    <a:solidFill>
                      <a:srgbClr val="DC58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Skor: 2.35–2.60</a:t>
                      </a:r>
                    </a:p>
                    <a:p>
                      <a:r>
                        <a:t>(Kota Padang, Pesisir Selatan, Pasaman)</a:t>
                      </a:r>
                    </a:p>
                    <a:p>
                      <a:r>
                        <a:t>23–44 Ribu Ha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KBA = 3–5]</a:t>
                      </a:r>
                    </a:p>
                    <a:p>
                      <a:r>
                        <a:t>Dataran aluvial pantai, dataran vulkanik &amp; gambut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KVA = 4–5]</a:t>
                      </a:r>
                    </a:p>
                    <a:p>
                      <a:r>
                        <a:t>Vegetasi hutan pantai / pamah / gambut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PL = 1–2]</a:t>
                      </a:r>
                    </a:p>
                    <a:p>
                      <a:r>
                        <a:t>Permukiman (PL=2) &amp; Lahan Terbuka di atas KBA/KVA bernilai 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Perhitungan: 5(0.15)+5(0.25)+1(0.60) = 2.60. Di GDB, karena KBA minimum bernilai 2 dan KVA minimum bernilai 3, nilai terendah PKU tertahan di ~2.20–2.60 (Kelas Rendah).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Sangat Rendah</a:t>
                      </a:r>
                    </a:p>
                  </a:txBody>
                  <a:tcPr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Skor: 1.55–1.75</a:t>
                      </a:r>
                    </a:p>
                    <a:p>
                      <a:r>
                        <a:t>(Koridor Jalan &amp; Gedung di Raster 0.5m)</a:t>
                      </a:r>
                    </a:p>
                    <a:p>
                      <a:r>
                        <a:t>6.840 Ha (Raster)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KBA = 2–3]</a:t>
                      </a:r>
                    </a:p>
                    <a:p>
                      <a:r>
                        <a:t>Perbukitan struktural / dataran aluvial perkotaan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KVA = 2–3]</a:t>
                      </a:r>
                    </a:p>
                    <a:p>
                      <a:r>
                        <a:t>Vegetasi savana / terna tepian sungai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PL = 1]</a:t>
                      </a:r>
                    </a:p>
                    <a:p>
                      <a:r>
                        <a:t>Jaringan Jalan Aspal (Kode 14), Bangunan Gedung (Kode 15) &amp; Tanah Terbuka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Perhitungan: 2(0.15)+3(0.25)+1(0.60) = 1.65. Muncul pada Raster 0.5m karena bangunan dan jalan raya bebas vegetasi terdeteksi murni sebagai piksel PL=1.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42A4A"/>
          </a:solidFill>
          <a:ln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AA520"/>
                </a:solidFill>
              </a:defRPr>
            </a:pPr>
            <a:r>
              <a:t>ANALISIS FAKTOR KBA, KVA &amp; PENUTUPAN LAHAN SERTA KOMPARASI GDB VS RASTER 0.5M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FFFFFF"/>
                </a:solidFill>
              </a:defRPr>
            </a:pPr>
            <a:r>
              <a:t>5. Analisis KBA, KVA &amp; PL pada JLH Pendukung Habitat &amp; Kehati (PHK)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12191695" cy="45720"/>
          </a:xfrm>
          <a:prstGeom prst="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43000"/>
          <a:ext cx="11274551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417320"/>
                <a:gridCol w="2148840"/>
                <a:gridCol w="1874519"/>
                <a:gridCol w="1691640"/>
                <a:gridCol w="2907792"/>
              </a:tblGrid>
              <a:tr h="88392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</a:defRPr>
                      </a:pPr>
                      <a:r>
                        <a:t>Kelas &amp; Rentang</a:t>
                      </a:r>
                    </a:p>
                  </a:txBody>
                  <a:tcPr anchor="ctr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</a:defRPr>
                      </a:pPr>
                      <a:r>
                        <a:t>Contoh Skor &amp; Sebaran Utama</a:t>
                      </a:r>
                    </a:p>
                  </a:txBody>
                  <a:tcPr anchor="ctr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</a:defRPr>
                      </a:pPr>
                      <a:r>
                        <a:t>Parameter KBA (Bentang Alam)</a:t>
                      </a:r>
                    </a:p>
                  </a:txBody>
                  <a:tcPr anchor="ctr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</a:defRPr>
                      </a:pPr>
                      <a:r>
                        <a:t>Parameter KVA (Vegetasi Alami)</a:t>
                      </a:r>
                    </a:p>
                  </a:txBody>
                  <a:tcPr anchor="ctr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</a:defRPr>
                      </a:pPr>
                      <a:r>
                        <a:t>Parameter PL (Penutupan Lahan)</a:t>
                      </a:r>
                    </a:p>
                  </a:txBody>
                  <a:tcPr anchor="ctr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</a:defRPr>
                      </a:pPr>
                      <a:r>
                        <a:t>Sintesis Kausalitas Ekologis &amp; Geospasial</a:t>
                      </a:r>
                    </a:p>
                  </a:txBody>
                  <a:tcPr anchor="ctr">
                    <a:solidFill>
                      <a:srgbClr val="142A4A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Sangat Tinggi</a:t>
                      </a:r>
                    </a:p>
                  </a:txBody>
                  <a:tcPr anchor="ctr">
                    <a:solidFill>
                      <a:srgbClr val="15734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Skor: 4.28–5.00</a:t>
                      </a:r>
                    </a:p>
                    <a:p>
                      <a:r>
                        <a:t>(Pesisir Selatan, Pasaman, Mentawai)</a:t>
                      </a:r>
                    </a:p>
                    <a:p>
                      <a:r>
                        <a:t>1,36–1,58 Juta Ha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KBA = 2–5]</a:t>
                      </a:r>
                    </a:p>
                    <a:p>
                      <a:r>
                        <a:t>Pegunungan vulkanik, dataran aluvial &amp; Zona Inti Konservasi (KK1)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KVA = 5]</a:t>
                      </a:r>
                    </a:p>
                    <a:p>
                      <a:r>
                        <a:t>Vegetasi hutan dipterokarpa &amp; non-dipterokarpa pamah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PL = 5]</a:t>
                      </a:r>
                    </a:p>
                    <a:p>
                      <a:r>
                        <a:t>Hutan Lahan Kering Primer (di GDB) &amp; Hutan Alami (di Raster) + Override KK1=5.0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Perhitungan Alami: 2(0.24)+5(0.16)+5(0.60) = 4.28. Hutan klimaks utuh dan kawasan TN Kerinci Seblat / Siberut menjadi habitat inti Harimau Sumatera &amp; primata endemik.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Tinggi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Skor: 3.68–4.00</a:t>
                      </a:r>
                    </a:p>
                    <a:p>
                      <a:r>
                        <a:t>(Mentawai, Pesisir Selatan, Pasaman)</a:t>
                      </a:r>
                    </a:p>
                    <a:p>
                      <a:r>
                        <a:t>0,34–1,40 Juta Ha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KBA = 2–3]</a:t>
                      </a:r>
                    </a:p>
                    <a:p>
                      <a:r>
                        <a:t>Perbukitan struktural lipatan batuan sedimen &amp; vulkanik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KVA = 5]</a:t>
                      </a:r>
                    </a:p>
                    <a:p>
                      <a:r>
                        <a:t>Vegetasi hutan dipterokarpa pamah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PL = 4]</a:t>
                      </a:r>
                    </a:p>
                    <a:p>
                      <a:r>
                        <a:t>Hutan Lahan Kering Sekunder &amp; Mangrove Primer (di GDB PL=4) + Override KK2/3=4.0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Perhitungan: 2(0.24)+5(0.16)+4(0.60) = 3.68. Hutan sekunder masih mempertahankan konektivitas kanopi sebagai koridor jelajah satwa liar.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Sedang</a:t>
                      </a:r>
                    </a:p>
                  </a:txBody>
                  <a:tcPr anchor="ctr">
                    <a:solidFill>
                      <a:srgbClr val="D9820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Skor: 2.96</a:t>
                      </a:r>
                    </a:p>
                    <a:p>
                      <a:r>
                        <a:t>(Dharmasraya, Pasaman Barat)</a:t>
                      </a:r>
                    </a:p>
                    <a:p>
                      <a:r>
                        <a:t>0,70–1,07 Juta Ha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KBA = 3–4]</a:t>
                      </a:r>
                    </a:p>
                    <a:p>
                      <a:r>
                        <a:t>Dataran vulkanik berombak piroklastik &amp; dataran gambut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KVA = 4–5]</a:t>
                      </a:r>
                    </a:p>
                    <a:p>
                      <a:r>
                        <a:t>Vegetasi hutan pamah &amp; hutan gambut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PL = 2–3]</a:t>
                      </a:r>
                    </a:p>
                    <a:p>
                      <a:r>
                        <a:t>Semak Belukar, Hutan Rawa Sekunder (PL=3) &amp; Perkebunan pada KBA=4 (PL=2)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Perhitungan: 4(0.24)+5(0.16)+2(0.60) = 2.96. Lanskap mosaik kebun dan belukar hanya mampu mendukung spesies adaptif/generalis (burung kecil, reptil, mamalia kecil).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Rendah</a:t>
                      </a:r>
                    </a:p>
                  </a:txBody>
                  <a:tcPr anchor="ctr">
                    <a:solidFill>
                      <a:srgbClr val="DC58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Skor: 2.24</a:t>
                      </a:r>
                    </a:p>
                    <a:p>
                      <a:r>
                        <a:t>(Sijunjung, Dharmasraya, 50 Kota)</a:t>
                      </a:r>
                    </a:p>
                    <a:p>
                      <a:r>
                        <a:t>0,77–1,41 Juta Ha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KBA = 1–2]</a:t>
                      </a:r>
                    </a:p>
                    <a:p>
                      <a:r>
                        <a:t>Perbukitan struktural metamorfik &amp; plutonik batuan beku dalam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KVA = 4–5]</a:t>
                      </a:r>
                    </a:p>
                    <a:p>
                      <a:r>
                        <a:t>Vegetasi hutan pamah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PL = 2]</a:t>
                      </a:r>
                    </a:p>
                    <a:p>
                      <a:r>
                        <a:t>Perkebunan Monokultur, Pertanian Lahan Kering &amp; Kebun Campur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Perhitungan: 1(0.24)+5(0.16)+2(0.60) = 2.24. Konversi hutan menjadi monokultur di atas bentang alam metamorfik memutus rantai makanan dan relung mikro-habitat.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Sangat Rendah</a:t>
                      </a:r>
                    </a:p>
                  </a:txBody>
                  <a:tcPr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Skor: 1.48–1.68</a:t>
                      </a:r>
                    </a:p>
                    <a:p>
                      <a:r>
                        <a:t>(Agam, Tanah Datar, Kota Padang)</a:t>
                      </a:r>
                    </a:p>
                    <a:p>
                      <a:r>
                        <a:t>87–184 Ribu Ha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KBA = 1–2]</a:t>
                      </a:r>
                    </a:p>
                    <a:p>
                      <a:r>
                        <a:t>Tubuh Danau, Perbukitan plutonik &amp; lahan terbangun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KVA = 3–4]</a:t>
                      </a:r>
                    </a:p>
                    <a:p>
                      <a:r>
                        <a:t>Vegetasi danau / pegunungan bawah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PL = 1]</a:t>
                      </a:r>
                    </a:p>
                    <a:p>
                      <a:r>
                        <a:t>Sawah Monokultur (PL_PHK=1), Permukiman, Lahan Terbuka &amp; Tubuh Air (PL_PHK=1)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Perhitungan: 1(0.24)+4(0.16)+1(0.60) = 1.48. Pada indeks habitat darat (terestrial), tubuh air terbuka, sawah intensif, dan permukiman memiliki skor PL=1.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42A4A"/>
          </a:solidFill>
          <a:ln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AA520"/>
                </a:solidFill>
              </a:defRPr>
            </a:pPr>
            <a:r>
              <a:t>ANALISIS FAKTOR KBA, KVA &amp; PENUTUPAN LAHAN SERTA KOMPARASI GDB VS RASTER 0.5M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FFFFFF"/>
                </a:solidFill>
              </a:defRPr>
            </a:pPr>
            <a:r>
              <a:t>6. Analisis KBA, KVA &amp; PL pada JLH Penyerap &amp; Penyimpan Karbon (PPK)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12191695" cy="45720"/>
          </a:xfrm>
          <a:prstGeom prst="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43000"/>
          <a:ext cx="11274551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417320"/>
                <a:gridCol w="2148840"/>
                <a:gridCol w="1874519"/>
                <a:gridCol w="1691640"/>
                <a:gridCol w="2907792"/>
              </a:tblGrid>
              <a:tr h="88392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</a:defRPr>
                      </a:pPr>
                      <a:r>
                        <a:t>Kelas &amp; Rentang</a:t>
                      </a:r>
                    </a:p>
                  </a:txBody>
                  <a:tcPr anchor="ctr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</a:defRPr>
                      </a:pPr>
                      <a:r>
                        <a:t>Contoh Skor &amp; Sebaran Utama</a:t>
                      </a:r>
                    </a:p>
                  </a:txBody>
                  <a:tcPr anchor="ctr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</a:defRPr>
                      </a:pPr>
                      <a:r>
                        <a:t>Parameter KBA (Bentang Alam)</a:t>
                      </a:r>
                    </a:p>
                  </a:txBody>
                  <a:tcPr anchor="ctr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</a:defRPr>
                      </a:pPr>
                      <a:r>
                        <a:t>Parameter KVA (Vegetasi Alami)</a:t>
                      </a:r>
                    </a:p>
                  </a:txBody>
                  <a:tcPr anchor="ctr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</a:defRPr>
                      </a:pPr>
                      <a:r>
                        <a:t>Parameter PL (Penutupan Lahan)</a:t>
                      </a:r>
                    </a:p>
                  </a:txBody>
                  <a:tcPr anchor="ctr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FFFFFF"/>
                          </a:solidFill>
                        </a:defRPr>
                      </a:pPr>
                      <a:r>
                        <a:t>Sintesis Kausalitas Ekologis &amp; Geospasial</a:t>
                      </a:r>
                    </a:p>
                  </a:txBody>
                  <a:tcPr anchor="ctr">
                    <a:solidFill>
                      <a:srgbClr val="142A4A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Sangat Tinggi</a:t>
                      </a:r>
                    </a:p>
                  </a:txBody>
                  <a:tcPr anchor="ctr">
                    <a:solidFill>
                      <a:srgbClr val="15734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Skor: 4.40–5.00</a:t>
                      </a:r>
                    </a:p>
                    <a:p>
                      <a:r>
                        <a:t>(Mentawai, Pesisir Selatan, Pasaman)</a:t>
                      </a:r>
                    </a:p>
                    <a:p>
                      <a:r>
                        <a:t>1,21–2,51 Juta Ha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KBA = 2–5]</a:t>
                      </a:r>
                    </a:p>
                    <a:p>
                      <a:r>
                        <a:t>Dataran organik gambut (KBA=5) &amp; perbukitan sedimen/vulkanik (KBA=2)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KVA = 5]</a:t>
                      </a:r>
                    </a:p>
                    <a:p>
                      <a:r>
                        <a:t>Vegetasi hutan dipterokarpa &amp; non-dipterokarpa pamah (Bobot 20%)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PL = 5]</a:t>
                      </a:r>
                    </a:p>
                    <a:p>
                      <a:r>
                        <a:t>Hutan Lahan Kering Primer dan Hutan Lahan Kering Sekunder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Perhitungan: 2(0.20)+5(0.20)+5(0.60) = 4.40 (di Gambut mencapai 5.00!). Tegakan pohon Dipterocarpaceae berdiameter besar &amp; tanah gambut menyimpan ratusan ton C/Ha.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Tinggi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Skor: 3.60–4.20</a:t>
                      </a:r>
                    </a:p>
                    <a:p>
                      <a:r>
                        <a:t>(Pesisir Selatan, Solok, Pasaman)</a:t>
                      </a:r>
                    </a:p>
                    <a:p>
                      <a:r>
                        <a:t>170–641 Ribu Ha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KBA = 2–5]</a:t>
                      </a:r>
                    </a:p>
                    <a:p>
                      <a:r>
                        <a:t>Pegunungan vulkanik Bukit Barisan (KBA=2) &amp; rawa gambut (KBA=5)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KVA = 4]</a:t>
                      </a:r>
                    </a:p>
                    <a:p>
                      <a:r>
                        <a:t>Vegetasi hutan pegunungan bawah &amp; hutan gambut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PL = 3–5]</a:t>
                      </a:r>
                    </a:p>
                    <a:p>
                      <a:r>
                        <a:t>Hutan Primer di Pegunungan Bawah (Skor 4.20) &amp; Hutan Rawa/Mangrove (PL=3–4)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Perhitungan: 2(0.20)+4(0.20)+5(0.60) = 4.20. Hutan montane di lereng atas Gunung Kerinci, Singgalang &amp; Talang memiliki pertumbuhan biomassa lebih lambat dari hutan pamah.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Sedang</a:t>
                      </a:r>
                    </a:p>
                  </a:txBody>
                  <a:tcPr anchor="ctr">
                    <a:solidFill>
                      <a:srgbClr val="D9820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Skor: 2.80–3.00</a:t>
                      </a:r>
                    </a:p>
                    <a:p>
                      <a:r>
                        <a:t>(Pesisir Selatan, Mentawai, Pasbar)</a:t>
                      </a:r>
                    </a:p>
                    <a:p>
                      <a:r>
                        <a:t>102–930 Ribu Ha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KBA = 5]</a:t>
                      </a:r>
                    </a:p>
                    <a:p>
                      <a:r>
                        <a:t>Dataran organik bermaterial gambut (cadangan karbon bawah tanah tinggi)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KVA = 4]</a:t>
                      </a:r>
                    </a:p>
                    <a:p>
                      <a:r>
                        <a:t>Vegetasi hutan gambut / rawa air tawar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PL = 2]</a:t>
                      </a:r>
                    </a:p>
                    <a:p>
                      <a:r>
                        <a:t>Perkebunan, Pertanian Lahan Kering &amp; Semak Belukar di atas lahan gambut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Perhitungan: 5(0.20)+4(0.20)+2(0.60) = 3.00. Walaupun tutupan atas berupa perkebunan/semak (PL=2), kandungan karbon tanah gambut (KBA=5) menahan skor di kelas Sedang.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Rendah</a:t>
                      </a:r>
                    </a:p>
                  </a:txBody>
                  <a:tcPr anchor="ctr">
                    <a:solidFill>
                      <a:srgbClr val="DC58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Skor: 2.20–2.60</a:t>
                      </a:r>
                    </a:p>
                    <a:p>
                      <a:r>
                        <a:t>(Pasaman Barat, Dharmasraya)</a:t>
                      </a:r>
                    </a:p>
                    <a:p>
                      <a:r>
                        <a:t>0,64–2,12 Juta Ha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KBA = 2]</a:t>
                      </a:r>
                    </a:p>
                    <a:p>
                      <a:r>
                        <a:t>Dataran vulkanik piroklastik &amp; perbukitan struktural mineral non-gambut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KVA = 4–5]</a:t>
                      </a:r>
                    </a:p>
                    <a:p>
                      <a:r>
                        <a:t>Vegetasi hutan pamah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PL = 2]</a:t>
                      </a:r>
                    </a:p>
                    <a:p>
                      <a:r>
                        <a:t>Perkebunan (Sawit/Karet), Pertanian Lahan Kering Campur &amp; Semak Belukar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Perhitungan: 2(0.20)+5(0.20)+2(0.60) = 2.60. Pada tanah mineral biasa (KBA=2), konversi hutan menjadi perkebunan/kebun campur (PL=2) menurunkan stok karbon ke 2.60.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Sangat Rendah</a:t>
                      </a:r>
                    </a:p>
                  </a:txBody>
                  <a:tcPr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Skor: 1.40–1.80</a:t>
                      </a:r>
                    </a:p>
                    <a:p>
                      <a:r>
                        <a:t>(Solok, Agam, Tanah Datar, Padang)</a:t>
                      </a:r>
                    </a:p>
                    <a:p>
                      <a:r>
                        <a:t>134–144 Ribu Ha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KBA = 1–2]</a:t>
                      </a:r>
                    </a:p>
                    <a:p>
                      <a:r>
                        <a:t>Danau, dataran aluvial &amp; perbukitan struktural mineral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KVA = 2–4]</a:t>
                      </a:r>
                    </a:p>
                    <a:p>
                      <a:r>
                        <a:t>Vegetasi hutan pegunungan atas / danau / pantai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[Skor PL = 1]</a:t>
                      </a:r>
                    </a:p>
                    <a:p>
                      <a:r>
                        <a:t>Sawah (PL_PPK=1), Permukiman, Lahan Terbuka, Tambang &amp; Tubuh Air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>
                          <a:solidFill>
                            <a:srgbClr val="1E232A"/>
                          </a:solidFill>
                        </a:defRPr>
                      </a:pPr>
                      <a:r>
                        <a:t>Perhitungan: 2(0.20)+4(0.20)+1(0.60) = 1.80. Sawah semusim, badan air, dan permukiman memiliki biomassa tegakan pohon mendekati nol (PL=1).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42A4A"/>
          </a:solidFill>
          <a:ln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AA520"/>
                </a:solidFill>
              </a:defRPr>
            </a:pPr>
            <a:r>
              <a:t>DIAGNOSTIK MATEMATIS &amp; TEMATIK: PERBEDAAN SKEMA KLASIFIKASI PENUTUPAN LAHAN DAN DEKOMPOSISI PIKSEL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FFFFFF"/>
                </a:solidFill>
              </a:defRPr>
            </a:pPr>
            <a:r>
              <a:t>Mengapa NILAI SKOR JLH_2025_ALL.gdb Berbeda dengan Raster 0.5 Meter?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12191695" cy="45720"/>
          </a:xfrm>
          <a:prstGeom prst="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43000"/>
          <a:ext cx="11274552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926080"/>
                <a:gridCol w="2926080"/>
                <a:gridCol w="3502152"/>
              </a:tblGrid>
              <a:tr h="1060704">
                <a:tc>
                  <a:txBody>
                    <a:bodyPr/>
                    <a:lstStyle/>
                    <a:p>
                      <a:pPr algn="ctr">
                        <a:defRPr sz="929" b="1">
                          <a:solidFill>
                            <a:srgbClr val="FFFFFF"/>
                          </a:solidFill>
                        </a:defRPr>
                      </a:pPr>
                      <a:r>
                        <a:t>Faktor Penyebab</a:t>
                      </a:r>
                    </a:p>
                  </a:txBody>
                  <a:tcPr anchor="ctr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29" b="1">
                          <a:solidFill>
                            <a:srgbClr val="FFFFFF"/>
                          </a:solidFill>
                        </a:defRPr>
                      </a:pPr>
                      <a:r>
                        <a:t>Mekanisme pada JLH_2025_ALL.gdb (Vektor KLHK)</a:t>
                      </a:r>
                    </a:p>
                  </a:txBody>
                  <a:tcPr anchor="ctr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29" b="1">
                          <a:solidFill>
                            <a:srgbClr val="FFFFFF"/>
                          </a:solidFill>
                        </a:defRPr>
                      </a:pPr>
                      <a:r>
                        <a:t>Mekanisme pada Raster Seamless 0.5 Meter</a:t>
                      </a:r>
                    </a:p>
                  </a:txBody>
                  <a:tcPr anchor="ctr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29" b="1">
                          <a:solidFill>
                            <a:srgbClr val="FFFFFF"/>
                          </a:solidFill>
                        </a:defRPr>
                      </a:pPr>
                      <a:r>
                        <a:t>Dampak Nyata pada Nilai Skor &amp; Pergeseran Kelas JLH</a:t>
                      </a:r>
                    </a:p>
                  </a:txBody>
                  <a:tcPr anchor="ctr">
                    <a:solidFill>
                      <a:srgbClr val="142A4A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pPr algn="l">
                        <a:defRPr sz="860" b="1">
                          <a:solidFill>
                            <a:srgbClr val="142A4A"/>
                          </a:solidFill>
                        </a:defRPr>
                      </a:pPr>
                      <a:r>
                        <a:t>1. Perbedaan Skor PL pada Hutan Sekunder</a:t>
                      </a:r>
                    </a:p>
                    <a:p>
                      <a:r>
                        <a:t>(1.171.166 Ha / 27,8% Sumbar)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E232A"/>
                          </a:solidFill>
                        </a:defRPr>
                      </a:pPr>
                      <a:r>
                        <a:t>Memisahkan Hutan Primer (2001) dan Hutan Sekunder (2002).</a:t>
                      </a:r>
                    </a:p>
                    <a:p>
                      <a:r>
                        <a:t>Pada Hutan Sekunder:</a:t>
                      </a:r>
                    </a:p>
                    <a:p>
                      <a:r>
                        <a:t>• PL_PYA = 2</a:t>
                      </a:r>
                    </a:p>
                    <a:p>
                      <a:r>
                        <a:t>• PL_PHK = 4</a:t>
                      </a:r>
                    </a:p>
                    <a:p>
                      <a:r>
                        <a:t>• PL_PGN = 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E232A"/>
                          </a:solidFill>
                        </a:defRPr>
                      </a:pPr>
                      <a:r>
                        <a:t>Citra 0.5m menggabungkan tajuk hutan rapat ke kelas Natural Forest (Kode 2) dengan skor:</a:t>
                      </a:r>
                    </a:p>
                    <a:p>
                      <a:r>
                        <a:t>• PL_PYA = 3 (+1 poin)</a:t>
                      </a:r>
                    </a:p>
                    <a:p>
                      <a:r>
                        <a:t>• PL_PHK = 5 (+1 poin)</a:t>
                      </a:r>
                    </a:p>
                    <a:p>
                      <a:r>
                        <a:t>• PL_PGN = 4 (+1 poin)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E232A"/>
                          </a:solidFill>
                        </a:defRPr>
                      </a:pPr>
                      <a:r>
                        <a:t>Karena bobot PL = 0.60, selisih +1 poin PL menambah +0.60 pada skor total:</a:t>
                      </a:r>
                    </a:p>
                    <a:p>
                      <a:r>
                        <a:t>• PYA: Skor naik dari 2.48 (Rendah) → 3.08 (Sedang).</a:t>
                      </a:r>
                    </a:p>
                    <a:p>
                      <a:r>
                        <a:t>• PHK Alami: Skor naik dari 3.68 (Tinggi) → 4.28 (Sangat Tinggi).</a:t>
                      </a:r>
                    </a:p>
                    <a:p>
                      <a:r>
                        <a:t>• PGN: Skor naik dari 3.24 (Sedang) → 3.84 (Tinggi).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pPr algn="l">
                        <a:defRPr sz="860" b="1">
                          <a:solidFill>
                            <a:srgbClr val="142A4A"/>
                          </a:solidFill>
                        </a:defRPr>
                      </a:pPr>
                      <a:r>
                        <a:t>2. Dekomposisi Kebun Campur / Agroforestri</a:t>
                      </a:r>
                    </a:p>
                    <a:p>
                      <a:r>
                        <a:t>(763.755 Ha / 18,1% Sumbar)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E232A"/>
                          </a:solidFill>
                        </a:defRPr>
                      </a:pPr>
                      <a:r>
                        <a:t>Poligon Pertanian Lahan Kering Campur (20092) diberi 1 skor seragam (PL=2 pada PYA, PHK, PPK; PL=3 pada PGA, PGN, PKU).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E232A"/>
                          </a:solidFill>
                        </a:defRPr>
                      </a:pPr>
                      <a:r>
                        <a:t>Resolusi 50 cm mendeteksi objek fisik di dalam kebun campur secara terpisah: kanopi pohon tua terdeteksi sebagai Pohon/Hutan (skor 4–5), petak tanaman sebagai Crops (skor 3–4).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E232A"/>
                          </a:solidFill>
                        </a:defRPr>
                      </a:pPr>
                      <a:r>
                        <a:t>Pada Raster 0.5m, jutaan pohon pelindung/agroforestri di dalam kebun masyarakat mengangkat skor PKU, PPK, dan PGA dari kelas Rendah/Sedang menjadi Tinggi &amp; Sangat Tinggi.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pPr algn="l">
                        <a:defRPr sz="860" b="1">
                          <a:solidFill>
                            <a:srgbClr val="142A4A"/>
                          </a:solidFill>
                        </a:defRPr>
                      </a:pPr>
                      <a:r>
                        <a:t>3. Perbedaan Skor PL pada Perkebunan &amp; Sawah</a:t>
                      </a:r>
                    </a:p>
                    <a:p>
                      <a:r>
                        <a:t>(891.232 Ha / 21,1% Sumbar)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E232A"/>
                          </a:solidFill>
                        </a:defRPr>
                      </a:pPr>
                      <a:r>
                        <a:t>• Perkebunan (2010): PL_PKU = 3.</a:t>
                      </a:r>
                    </a:p>
                    <a:p>
                      <a:r>
                        <a:t>• Sawah (20093): PL_PGN = 5, namun Pertanian Lahan Kering (20091): PL_PGN = 3.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E232A"/>
                          </a:solidFill>
                        </a:defRPr>
                      </a:pPr>
                      <a:r>
                        <a:t>• Plantation (Kode 12): PL_PKU = 4 (+1 poin).</a:t>
                      </a:r>
                    </a:p>
                    <a:p>
                      <a:r>
                        <a:t>• Crops (Kode 5): Mencakup sawah &amp; pertanian pangan dengan PL_PGN = 4 dan PL_PYA = 3.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E232A"/>
                          </a:solidFill>
                        </a:defRPr>
                      </a:pPr>
                      <a:r>
                        <a:t>• Pada PKU: Perkebunan naik dari skor 3.40 (Sedang) menjadi 4.00 (Tinggi).</a:t>
                      </a:r>
                    </a:p>
                    <a:p>
                      <a:r>
                        <a:t>• Pada PGN: Lahan pertanian kering naik dari skor 3.12 (Sedang) menjadi 3.72 (Tinggi).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pPr algn="l">
                        <a:defRPr sz="860" b="1">
                          <a:solidFill>
                            <a:srgbClr val="142A4A"/>
                          </a:solidFill>
                        </a:defRPr>
                      </a:pPr>
                      <a:r>
                        <a:t>4. Aturan Batas Ambang Kelas (Interval ≤ vs &lt;)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E232A"/>
                          </a:solidFill>
                        </a:defRPr>
                      </a:pPr>
                      <a:r>
                        <a:t>Menggunakan batas tertutup atas (≤):</a:t>
                      </a:r>
                    </a:p>
                    <a:p>
                      <a:r>
                        <a:t>• Skor 2.60 → masuk Kelas Rendah</a:t>
                      </a:r>
                    </a:p>
                    <a:p>
                      <a:r>
                        <a:t>• Skor 3.40 → masuk Kelas Sedang</a:t>
                      </a:r>
                    </a:p>
                    <a:p>
                      <a:r>
                        <a:t>• Skor 4.20 → masuk Kelas Tinggi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E232A"/>
                          </a:solidFill>
                        </a:defRPr>
                      </a:pPr>
                      <a:r>
                        <a:t>Menggunakan batas terbuka atas (&lt;):</a:t>
                      </a:r>
                    </a:p>
                    <a:p>
                      <a:r>
                        <a:t>• Skor 2.60 → masuk Kelas Sedang [2.6–3.4)</a:t>
                      </a:r>
                    </a:p>
                    <a:p>
                      <a:r>
                        <a:t>• Skor 3.40 → masuk Kelas Tinggi [3.4–4.2)</a:t>
                      </a:r>
                    </a:p>
                    <a:p>
                      <a:r>
                        <a:t>• Skor 4.20 → masuk Sangat Tinggi [4.2–5.0]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60">
                          <a:solidFill>
                            <a:srgbClr val="1E232A"/>
                          </a:solidFill>
                        </a:defRPr>
                      </a:pPr>
                      <a:r>
                        <a:t>Kombinasi bobot genap menghasilkan ratusan ribu hektar bernilai persis 2.60 (misal PPK Perkebunan: 2×0.2 + 5×0.2 + 2×0.6 = 2.60). Di GDB masuk Rendah, di Raster masuk Sedang!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42A4A"/>
          </a:solidFill>
          <a:ln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AA520"/>
                </a:solidFill>
              </a:defRPr>
            </a:pPr>
            <a:r>
              <a:t>DIAGNOSTIK KARTOGRAFIS &amp; GEODETIS: TOTAL LUAS (4,21 JUTA HA VS 4,38 JUTA HA) SERTA DISTRIBUSI LUAS KELAS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FFFFFF"/>
                </a:solidFill>
              </a:defRPr>
            </a:pPr>
            <a:r>
              <a:t>Mengapa LUASAN (Hektar) JLH_2025_ALL.gdb Berbeda dengan Raster 0.5 Meter?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12191695" cy="45720"/>
          </a:xfrm>
          <a:prstGeom prst="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5486400" cy="2606040"/>
          </a:xfrm>
          <a:prstGeom prst="roundRect">
            <a:avLst/>
          </a:prstGeom>
          <a:solidFill>
            <a:srgbClr val="F3F6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143000"/>
            <a:ext cx="5486400" cy="438912"/>
          </a:xfrm>
          <a:prstGeom prst="roundRect">
            <a:avLst/>
          </a:prstGeom>
          <a:solidFill>
            <a:srgbClr val="142A4A"/>
          </a:solidFill>
          <a:ln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1. SELISIH TOTAL CAKUPAN WILAYAH (+166.582 Ha / +3,95%)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45920"/>
            <a:ext cx="5266944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b="1" sz="919">
                <a:solidFill>
                  <a:srgbClr val="142A4A"/>
                </a:solidFill>
              </a:rPr>
              <a:t>▪ GDB Vektor (4.213.812 Ha): </a:t>
            </a:r>
            <a:r>
              <a:rPr sz="900">
                <a:solidFill>
                  <a:srgbClr val="1E232A"/>
                </a:solidFill>
              </a:rPr>
              <a:t>Menggunakan batas poligon daratan skala 1:250.000 / 1:50.000 (37.001 poligon). Pulau-pulau karang kecil, gosong pantai, dan atol mikro tereliminasi saat generalisasi peta dasar.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b="1" sz="919">
                <a:solidFill>
                  <a:srgbClr val="142A4A"/>
                </a:solidFill>
              </a:rPr>
              <a:t>▪ Raster 0.5m (4.380.394 Ha): </a:t>
            </a:r>
            <a:r>
              <a:rPr sz="900">
                <a:solidFill>
                  <a:srgbClr val="1E232A"/>
                </a:solidFill>
              </a:rPr>
              <a:t>Mencakup 3.206 grid tile resolusi 50 cm (175,2 miliar piksel daratan). Seluruh gugusan pulau kecil di Kepulauan Mentawai, Pesisir Selatan, dan Pasaman Barat serta sabuk pantai terpetakan utuh.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b="1" sz="919">
                <a:solidFill>
                  <a:srgbClr val="142A4A"/>
                </a:solidFill>
              </a:rPr>
              <a:t>▪ Distorsi Proyeksi Grid (EPSG:3857): </a:t>
            </a:r>
            <a:r>
              <a:rPr sz="900">
                <a:solidFill>
                  <a:srgbClr val="1E232A"/>
                </a:solidFill>
              </a:rPr>
              <a:t>Raster dihitung pada grid Web Mercator (0.25 m²/piksel), sedangkan kolom LUAS_HA pada GDB dihitung pada sistem proyeksi silinder sama-luas (Equal-Area / Geodesic).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143000"/>
            <a:ext cx="5486400" cy="2606040"/>
          </a:xfrm>
          <a:prstGeom prst="roundRect">
            <a:avLst/>
          </a:prstGeom>
          <a:solidFill>
            <a:srgbClr val="F3F6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45352" y="1143000"/>
            <a:ext cx="5486400" cy="438912"/>
          </a:xfrm>
          <a:prstGeom prst="roundRect">
            <a:avLst/>
          </a:prstGeom>
          <a:solidFill>
            <a:srgbClr val="176B87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2. EFEK MINIMUM MAPPING UNIT (MMU) VS PIKSEL 0.25 m²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645920"/>
            <a:ext cx="5266944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b="1" sz="919">
                <a:solidFill>
                  <a:srgbClr val="142A4A"/>
                </a:solidFill>
              </a:rPr>
              <a:t>▪ Generalisasi Kartografi GDB: </a:t>
            </a:r>
            <a:r>
              <a:rPr sz="900">
                <a:solidFill>
                  <a:srgbClr val="1E232A"/>
                </a:solidFill>
              </a:rPr>
              <a:t>Poligon penutupan lahan KLHK memiliki MMU ~6,25 Ha (2,5 mm × 2,5 mm pada skala 1:50.000). Objek yang lebih kecil dari 6,25 Ha dilebur (dissolved) ke dalam poligon dominan di sekelilingnya.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b="1" sz="919">
                <a:solidFill>
                  <a:srgbClr val="142A4A"/>
                </a:solidFill>
              </a:rPr>
              <a:t>▪ Resolusi Ultra-Tinggi 0.25 m²: </a:t>
            </a:r>
            <a:r>
              <a:rPr sz="900">
                <a:solidFill>
                  <a:srgbClr val="1E232A"/>
                </a:solidFill>
              </a:rPr>
              <a:t>Pada raster 0.5m, setiap elemen berukuran 50 cm × 50 cm memiliki kelas sendiri. Tidak ada penyederhanaan batas poligon.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b="1" sz="919">
                <a:solidFill>
                  <a:srgbClr val="142A4A"/>
                </a:solidFill>
              </a:rPr>
              <a:t>▪ Akibat pada Distribusi Luas: </a:t>
            </a:r>
            <a:r>
              <a:rPr sz="900">
                <a:solidFill>
                  <a:srgbClr val="1E232A"/>
                </a:solidFill>
              </a:rPr>
              <a:t>Jaringan jalan raya, jalan lingkungan, rumah terpencar di pedesaan, alur sungai kecil, dan kolam rakyat terhitung luasnya secara riil pada Raster 0.5m, namun hilang/terserap di GDB.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86200"/>
            <a:ext cx="11274552" cy="1508760"/>
          </a:xfrm>
          <a:prstGeom prst="roundRect">
            <a:avLst/>
          </a:prstGeom>
          <a:solidFill>
            <a:srgbClr val="F3F6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3886200"/>
            <a:ext cx="11274552" cy="438912"/>
          </a:xfrm>
          <a:prstGeom prst="roundRect">
            <a:avLst/>
          </a:prstGeom>
          <a:solidFill>
            <a:srgbClr val="24527A"/>
          </a:solidFill>
          <a:ln>
            <a:solidFill>
              <a:srgbClr val="2452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3. EFEK KONTINUITAS RASTER KBA &amp; KVA PADA SEMPADAN &amp; DANAU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389120"/>
            <a:ext cx="11055096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b="1" sz="919">
                <a:solidFill>
                  <a:srgbClr val="142A4A"/>
                </a:solidFill>
              </a:rPr>
              <a:t>▪ Tubuh Air &amp; Danau: </a:t>
            </a:r>
            <a:r>
              <a:rPr sz="900">
                <a:solidFill>
                  <a:srgbClr val="1E232A"/>
                </a:solidFill>
              </a:rPr>
              <a:t>Di GDB, Danau Singkarak &amp; Maninjau terpotong tegas sebagai poligon tunggal. Di Raster 0.5m, zona ekoton tepian danau, rawa musiman, dan badan sungai bermeander terpetakan mengikuti piksel air aktual tahun 2025.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b="1" sz="919">
                <a:solidFill>
                  <a:srgbClr val="142A4A"/>
                </a:solidFill>
              </a:rPr>
              <a:t>▪ Pergeseran Luas Antar Kelas: </a:t>
            </a:r>
            <a:r>
              <a:rPr sz="900">
                <a:solidFill>
                  <a:srgbClr val="1E232A"/>
                </a:solidFill>
              </a:rPr>
              <a:t>Akibat gabungan (1) detail piksel 0.5m, (2) perbedaan skor lookup PL Hutan Sekunder/Kebun, dan (3) batas ambang kelas, terjadi pergeseran luasan masif dari kelas Rendah/Sedang (di GDB) menuju kelas Sedang/Tinggi/Sangat Tinggi (di Raster 0.5m).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504688"/>
            <a:ext cx="11274552" cy="1005840"/>
          </a:xfrm>
          <a:prstGeom prst="roundRect">
            <a:avLst/>
          </a:prstGeom>
          <a:solidFill>
            <a:srgbClr val="EBF5FB"/>
          </a:solidFill>
          <a:ln>
            <a:solidFill>
              <a:srgbClr val="176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42A4A"/>
                </a:solidFill>
              </a:defRPr>
            </a:pPr>
            <a:r>
              <a:t>KESIMPULAN KOMPARASI GDB VS RASTER 0.5 METER:</a:t>
            </a:r>
          </a:p>
          <a:p>
            <a:pPr>
              <a:defRPr sz="919">
                <a:solidFill>
                  <a:srgbClr val="1E232A"/>
                </a:solidFill>
              </a:defRPr>
            </a:pPr>
            <a:r>
              <a:t>Kedua dataset menggunakan BOBOT RUMUS YANG 100% IDENTIK. Perbedaan nilai dan luasan bukan karena kesalahan hitung, melainkan konsekuensi ilmiah dari: (1) Skala pengamatan (Makro 1:50.000/1:250.000 vs Mikro 0.5m), (2) Klasifikasi Hutan Sekunder &amp; Kebun Campur pada tabel skor PL, serta (3) Konvensi batas interval kelas (≤ vs &lt;). Gunakan GDB untuk pelaporan RPPLH/KLHS makro tingkat provinsi, dan gunakan Raster 0.5m untuk analisis tapak, AMDAL, dan mitigasi bencana lokal.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142A4A"/>
          </a:solidFill>
          <a:ln>
            <a:solidFill>
              <a:srgbClr val="14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AA520"/>
                </a:solidFill>
              </a:defRPr>
            </a:pPr>
            <a:r>
              <a:t>ANALISIS FAKTOR KBA, KVA &amp; PENUTUPAN LAHAN SERTA KOMPARASI GDB VS RASTER 0.5M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9184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50" b="1">
                <a:solidFill>
                  <a:srgbClr val="FFFFFF"/>
                </a:solidFill>
              </a:defRPr>
            </a:pPr>
            <a:r>
              <a:t>Matriks Rekapitulasi Perbandingan Luasan &amp; Penyebab Utama per Indikator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12191695" cy="45720"/>
          </a:xfrm>
          <a:prstGeom prst="rect">
            <a:avLst/>
          </a:prstGeom>
          <a:solidFill>
            <a:srgbClr val="DAA520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43000"/>
          <a:ext cx="11274551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2011680"/>
                <a:gridCol w="2011680"/>
                <a:gridCol w="1920240"/>
                <a:gridCol w="3456432"/>
              </a:tblGrid>
              <a:tr h="757645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Indikator JLH</a:t>
                      </a:r>
                    </a:p>
                    <a:p>
                      <a:r>
                        <a:t>(Bobot KBA : KVA : PL)</a:t>
                      </a:r>
                    </a:p>
                  </a:txBody>
                  <a:tcPr anchor="ctr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Kelas Dominan di</a:t>
                      </a:r>
                    </a:p>
                    <a:p>
                      <a:r>
                        <a:t>JLH_2025_ALL.gdb</a:t>
                      </a:r>
                    </a:p>
                  </a:txBody>
                  <a:tcPr anchor="ctr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Kelas Dominan di</a:t>
                      </a:r>
                    </a:p>
                    <a:p>
                      <a:r>
                        <a:t>Raster 0.5 Meter</a:t>
                      </a:r>
                    </a:p>
                  </a:txBody>
                  <a:tcPr anchor="ctr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Selisih Utama</a:t>
                      </a:r>
                    </a:p>
                    <a:p>
                      <a:r>
                        <a:t>(Raster vs GDB)</a:t>
                      </a:r>
                    </a:p>
                  </a:txBody>
                  <a:tcPr anchor="ctr">
                    <a:solidFill>
                      <a:srgbClr val="14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Akar Penyebab Perbedaan Nilai &amp; Luasan</a:t>
                      </a:r>
                    </a:p>
                    <a:p>
                      <a:r>
                        <a:t>(Berdasarkan Parameter KBA, KVA, dan PL)</a:t>
                      </a:r>
                    </a:p>
                  </a:txBody>
                  <a:tcPr anchor="ctr">
                    <a:solidFill>
                      <a:srgbClr val="142A4A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 algn="l">
                        <a:defRPr sz="830" b="1">
                          <a:solidFill>
                            <a:srgbClr val="142A4A"/>
                          </a:solidFill>
                        </a:defRPr>
                      </a:pPr>
                      <a:r>
                        <a:t>1. PGA - Pengaturan Air</a:t>
                      </a:r>
                    </a:p>
                    <a:p>
                      <a:r>
                        <a:t>(0.28 : 0.12 : 0.60)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>
                          <a:solidFill>
                            <a:srgbClr val="1E232A"/>
                          </a:solidFill>
                        </a:defRPr>
                      </a:pPr>
                      <a:r>
                        <a:t>Sedang: 41,57%</a:t>
                      </a:r>
                    </a:p>
                    <a:p>
                      <a:r>
                        <a:t>(1.751.883 Ha)</a:t>
                      </a:r>
                    </a:p>
                    <a:p>
                      <a:r>
                        <a:t>Sangat Tinggi: 33,88%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>
                          <a:solidFill>
                            <a:srgbClr val="1E232A"/>
                          </a:solidFill>
                        </a:defRPr>
                      </a:pPr>
                      <a:r>
                        <a:t>Sangat Tinggi: 48,19%</a:t>
                      </a:r>
                    </a:p>
                    <a:p>
                      <a:r>
                        <a:t>(2.110.935 Ha)</a:t>
                      </a:r>
                    </a:p>
                    <a:p>
                      <a:r>
                        <a:t>Sedang: 26,24%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>
                          <a:solidFill>
                            <a:srgbClr val="1E232A"/>
                          </a:solidFill>
                        </a:defRPr>
                      </a:pPr>
                      <a:r>
                        <a:t>Sangat Tinggi:</a:t>
                      </a:r>
                    </a:p>
                    <a:p>
                      <a:r>
                        <a:t>+683.121 Ha (+14,3%)</a:t>
                      </a:r>
                    </a:p>
                    <a:p>
                      <a:r>
                        <a:t>Sedang: -602.445 Ha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>
                          <a:solidFill>
                            <a:srgbClr val="1E232A"/>
                          </a:solidFill>
                        </a:defRPr>
                      </a:pPr>
                      <a:r>
                        <a:t>Di dalam poligon Pertanian Lahan Kering Campur (763 ribu Ha, GDB PL=3), citra 0.5m mendeteksi kanopi pepohonan rapat sebagai Hutan/Pohon (PL=5), sehingga skor naik dari 2.96 (Sedang) ke 4.16–4.44 (Tinggi/Sangat Tinggi).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 algn="l">
                        <a:defRPr sz="830" b="1">
                          <a:solidFill>
                            <a:srgbClr val="142A4A"/>
                          </a:solidFill>
                        </a:defRPr>
                      </a:pPr>
                      <a:r>
                        <a:t>2. PYA - Penyedia Air</a:t>
                      </a:r>
                    </a:p>
                    <a:p>
                      <a:r>
                        <a:t>(0.32 : 0.08 : 0.60)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>
                          <a:solidFill>
                            <a:srgbClr val="1E232A"/>
                          </a:solidFill>
                        </a:defRPr>
                      </a:pPr>
                      <a:r>
                        <a:t>Rendah: 56,12%</a:t>
                      </a:r>
                    </a:p>
                    <a:p>
                      <a:r>
                        <a:t>(2.364.620 Ha)</a:t>
                      </a:r>
                    </a:p>
                    <a:p>
                      <a:r>
                        <a:t>Sedang: 41,53%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>
                          <a:solidFill>
                            <a:srgbClr val="1E232A"/>
                          </a:solidFill>
                        </a:defRPr>
                      </a:pPr>
                      <a:r>
                        <a:t>Sedang: 71,08%</a:t>
                      </a:r>
                    </a:p>
                    <a:p>
                      <a:r>
                        <a:t>(3.113.503 Ha)</a:t>
                      </a:r>
                    </a:p>
                    <a:p>
                      <a:r>
                        <a:t>Rendah: 20,35%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>
                          <a:solidFill>
                            <a:srgbClr val="1E232A"/>
                          </a:solidFill>
                        </a:defRPr>
                      </a:pPr>
                      <a:r>
                        <a:t>Sedang:</a:t>
                      </a:r>
                    </a:p>
                    <a:p>
                      <a:r>
                        <a:t>+1.363.643 Ha (+29,6%)</a:t>
                      </a:r>
                    </a:p>
                    <a:p>
                      <a:r>
                        <a:t>Rendah: -1.473.315 Ha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>
                          <a:solidFill>
                            <a:srgbClr val="1E232A"/>
                          </a:solidFill>
                        </a:defRPr>
                      </a:pPr>
                      <a:r>
                        <a:t>Pada GDB, Hutan Sekunder (1,17 juta Ha) diberi skor PL_PYA = 2 (Skor = 2.48 → Rendah). Pada Raster 0.5m, Natural Forest diberi skor PL_PYA = 3 dan Crops PL_PYA = 3 (Skor = 3.08 → Sedang).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 algn="l">
                        <a:defRPr sz="830" b="1">
                          <a:solidFill>
                            <a:srgbClr val="142A4A"/>
                          </a:solidFill>
                        </a:defRPr>
                      </a:pPr>
                      <a:r>
                        <a:t>3. PGN - Penyedia Pangan</a:t>
                      </a:r>
                    </a:p>
                    <a:p>
                      <a:r>
                        <a:t>(0.28 : 0.12 : 0.60)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>
                          <a:solidFill>
                            <a:srgbClr val="1E232A"/>
                          </a:solidFill>
                        </a:defRPr>
                      </a:pPr>
                      <a:r>
                        <a:t>Sedang: 52,22%</a:t>
                      </a:r>
                    </a:p>
                    <a:p>
                      <a:r>
                        <a:t>(2.200.546 Ha)</a:t>
                      </a:r>
                    </a:p>
                    <a:p>
                      <a:r>
                        <a:t>Tinggi: 38,97%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>
                          <a:solidFill>
                            <a:srgbClr val="1E232A"/>
                          </a:solidFill>
                        </a:defRPr>
                      </a:pPr>
                      <a:r>
                        <a:t>Tinggi: 72,86%</a:t>
                      </a:r>
                    </a:p>
                    <a:p>
                      <a:r>
                        <a:t>(3.191.533 Ha)</a:t>
                      </a:r>
                    </a:p>
                    <a:p>
                      <a:r>
                        <a:t>Sedang: 15,33%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>
                          <a:solidFill>
                            <a:srgbClr val="1E232A"/>
                          </a:solidFill>
                        </a:defRPr>
                      </a:pPr>
                      <a:r>
                        <a:t>Tinggi:</a:t>
                      </a:r>
                    </a:p>
                    <a:p>
                      <a:r>
                        <a:t>+1.549.535 Ha (+33,9%)</a:t>
                      </a:r>
                    </a:p>
                    <a:p>
                      <a:r>
                        <a:t>Sedang: -1.528.874 Ha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>
                          <a:solidFill>
                            <a:srgbClr val="1E232A"/>
                          </a:solidFill>
                        </a:defRPr>
                      </a:pPr>
                      <a:r>
                        <a:t>Pada GDB, Hutan Sekunder &amp; Pertanian Lahan Kering diberi PL_PGN = 3 (Skor 3.24 → Sedang). Pada Raster 0.5m, Natural Forest &amp; Crops diberi PL_PGN = 4 sehingga di atas tanah vulkanik/sedimen skornya 3.84 (Tinggi).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 algn="l">
                        <a:defRPr sz="830" b="1">
                          <a:solidFill>
                            <a:srgbClr val="142A4A"/>
                          </a:solidFill>
                        </a:defRPr>
                      </a:pPr>
                      <a:r>
                        <a:t>4. PKU - Kualitas Udara</a:t>
                      </a:r>
                    </a:p>
                    <a:p>
                      <a:r>
                        <a:t>(0.15 : 0.25 : 0.60)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>
                          <a:solidFill>
                            <a:srgbClr val="1E232A"/>
                          </a:solidFill>
                        </a:defRPr>
                      </a:pPr>
                      <a:r>
                        <a:t>Sangat Tinggi: 46,07%</a:t>
                      </a:r>
                    </a:p>
                    <a:p>
                      <a:r>
                        <a:t>(1.941.460 Ha)</a:t>
                      </a:r>
                    </a:p>
                    <a:p>
                      <a:r>
                        <a:t>Sedang: 38,62%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>
                          <a:solidFill>
                            <a:srgbClr val="1E232A"/>
                          </a:solidFill>
                        </a:defRPr>
                      </a:pPr>
                      <a:r>
                        <a:t>Sangat Tinggi: 65,54%</a:t>
                      </a:r>
                    </a:p>
                    <a:p>
                      <a:r>
                        <a:t>(2.870.741 Ha)</a:t>
                      </a:r>
                    </a:p>
                    <a:p>
                      <a:r>
                        <a:t>Tinggi: 21,43%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>
                          <a:solidFill>
                            <a:srgbClr val="1E232A"/>
                          </a:solidFill>
                        </a:defRPr>
                      </a:pPr>
                      <a:r>
                        <a:t>Sangat Tinggi:</a:t>
                      </a:r>
                    </a:p>
                    <a:p>
                      <a:r>
                        <a:t>+929.281 Ha (+19,5%)</a:t>
                      </a:r>
                    </a:p>
                    <a:p>
                      <a:r>
                        <a:t>Sedang: -1.107.689 Ha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>
                          <a:solidFill>
                            <a:srgbClr val="1E232A"/>
                          </a:solidFill>
                        </a:defRPr>
                      </a:pPr>
                      <a:r>
                        <a:t>Pada GDB, Perkebunan diberi PL_PKU = 3 (Skor 3.40 → masuk Sedang karena aturan ≤ 3.40). Pada Raster 0.5m, Plantation diberi PL_PKU = 4 dan tajuk pohon kebun campur terdeteksi sebagai hutan (PL=5 → Sangat Tinggi).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pPr algn="l">
                        <a:defRPr sz="830" b="1">
                          <a:solidFill>
                            <a:srgbClr val="142A4A"/>
                          </a:solidFill>
                        </a:defRPr>
                      </a:pPr>
                      <a:r>
                        <a:t>5. PHK - Habitat &amp; Kehati</a:t>
                      </a:r>
                    </a:p>
                    <a:p>
                      <a:r>
                        <a:t>(0.24 : 0.16 : 0.60)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>
                          <a:solidFill>
                            <a:srgbClr val="1E232A"/>
                          </a:solidFill>
                        </a:defRPr>
                      </a:pPr>
                      <a:r>
                        <a:t>Alami: Rendah 33,5%, Tinggi 33,3%, ST 5,1%</a:t>
                      </a:r>
                    </a:p>
                    <a:p>
                      <a:r>
                        <a:t>KK: Sangat Tinggi 37,5%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>
                          <a:solidFill>
                            <a:srgbClr val="1E232A"/>
                          </a:solidFill>
                        </a:defRPr>
                      </a:pPr>
                      <a:r>
                        <a:t>Alami:</a:t>
                      </a:r>
                    </a:p>
                    <a:p>
                      <a:r>
                        <a:t>Tinggi: 31,12%</a:t>
                      </a:r>
                    </a:p>
                    <a:p>
                      <a:r>
                        <a:t>Sangat Tinggi: 31,09%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>
                          <a:solidFill>
                            <a:srgbClr val="1E232A"/>
                          </a:solidFill>
                        </a:defRPr>
                      </a:pPr>
                      <a:r>
                        <a:t>Sangat Tinggi (Alami):</a:t>
                      </a:r>
                    </a:p>
                    <a:p>
                      <a:r>
                        <a:t>+1.146.151 Ha (+26,0%)</a:t>
                      </a:r>
                    </a:p>
                    <a:p>
                      <a:r>
                        <a:t>selaras dengan GDB KK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>
                          <a:solidFill>
                            <a:srgbClr val="1E232A"/>
                          </a:solidFill>
                        </a:defRPr>
                      </a:pPr>
                      <a:r>
                        <a:t>Pada GDB Alami, Hutan Sekunder diberi PL_PHK = 4 (Skor 3.68 → Tinggi) dan baru menjadi 5.0 setelah dioverride KK. Pada Raster 0.5m, Natural Forest langsung bernilai PL_PHK = 5 (Skor 4.28 → Sangat Tinggi).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757650">
                <a:tc>
                  <a:txBody>
                    <a:bodyPr/>
                    <a:lstStyle/>
                    <a:p>
                      <a:pPr algn="l">
                        <a:defRPr sz="830" b="1">
                          <a:solidFill>
                            <a:srgbClr val="142A4A"/>
                          </a:solidFill>
                        </a:defRPr>
                      </a:pPr>
                      <a:r>
                        <a:t>6. PPK - Simpan Karbon</a:t>
                      </a:r>
                    </a:p>
                    <a:p>
                      <a:r>
                        <a:t>(0.20 : 0.20 : 0.60)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>
                          <a:solidFill>
                            <a:srgbClr val="1E232A"/>
                          </a:solidFill>
                        </a:defRPr>
                      </a:pPr>
                      <a:r>
                        <a:t>Rendah: 50,22%</a:t>
                      </a:r>
                    </a:p>
                    <a:p>
                      <a:r>
                        <a:t>(2.116.121 Ha)</a:t>
                      </a:r>
                    </a:p>
                    <a:p>
                      <a:r>
                        <a:t>Sangat Tinggi: 28,73%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>
                          <a:solidFill>
                            <a:srgbClr val="1E232A"/>
                          </a:solidFill>
                        </a:defRPr>
                      </a:pPr>
                      <a:r>
                        <a:t>Sangat Tinggi: 57,21%</a:t>
                      </a:r>
                    </a:p>
                    <a:p>
                      <a:r>
                        <a:t>(2.505.834 Ha)</a:t>
                      </a:r>
                    </a:p>
                    <a:p>
                      <a:r>
                        <a:t>Sedang: 21,24%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>
                          <a:solidFill>
                            <a:srgbClr val="1E232A"/>
                          </a:solidFill>
                        </a:defRPr>
                      </a:pPr>
                      <a:r>
                        <a:t>Sangat Tinggi:</a:t>
                      </a:r>
                    </a:p>
                    <a:p>
                      <a:r>
                        <a:t>+1.295.048 Ha (+28,5%)</a:t>
                      </a:r>
                    </a:p>
                    <a:p>
                      <a:r>
                        <a:t>Rendah: -1.476.629 Ha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30">
                          <a:solidFill>
                            <a:srgbClr val="1E232A"/>
                          </a:solidFill>
                        </a:defRPr>
                      </a:pPr>
                      <a:r>
                        <a:t>1) Skor 2.60 pada Perkebunan/Kebun di GDB masuk kelas Rendah (≤2.60), sedangkan di Raster masuk Sedang (≥2.60). 2) Kanopi pohon rapat di kebun campur terdeteksi sebagai hutan (PL=5 → Sangat Tinggi).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